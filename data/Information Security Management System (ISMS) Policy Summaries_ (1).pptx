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4"/>
  </p:notesMasterIdLst>
  <p:sldIdLst>
    <p:sldId id="256" r:id="rId5"/>
    <p:sldId id="307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304" r:id="rId34"/>
    <p:sldId id="302" r:id="rId35"/>
    <p:sldId id="30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306" r:id="rId50"/>
    <p:sldId id="297" r:id="rId51"/>
    <p:sldId id="298" r:id="rId52"/>
    <p:sldId id="300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510E2E-F98D-E3AB-3BE5-EAC73F34B86E}" v="19" dt="2026-03-26T10:28:06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21E65-958D-41F1-954D-7EB5BF33C5D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67243-E757-46C7-8E32-89CCA76CD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53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7E61-9A82-B497-4C48-FD239BB40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541C6-DC13-F632-F73D-449528C76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EFE2C-6C96-F0E8-C038-65FC9ACC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E75A5-F1DA-91D1-D502-9D349A86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4124-E476-60B8-8046-B3B339A8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579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D26B1-BB1B-F824-50CA-7502B558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3F18-D5C3-3CED-8806-B33AAD06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57945-40CF-B99D-E3A2-0D2E7B03E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7C448-3A80-F8E0-ABA1-997144D8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DFEEC-0DEE-3950-41F9-026CCBE9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94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8C2B-8EA2-EC52-CDD0-16854DA2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877B0-62E5-F7C0-D8E5-3544295D3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CEE5-CEFC-4367-43F0-89DA3DE3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29091-E129-3C87-63CD-96633F18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AAB2-A0F1-96FC-FE0D-9BF04304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12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4F68-F1AA-54E5-45A2-AE8550E9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9D5C7-FEEC-8864-D867-E29396C86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0C395-8CBD-B590-83BA-7757EDBEC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A4B98-6AF3-53FA-FB07-7CDB318E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9A416-A1CE-2DAD-AF1E-0B77C23A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C046-1619-6DF5-57BA-F1A2DE5A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74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1B8B-692E-560F-DF72-A8C1D455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B422C-6536-AA1C-1562-CA9E63558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9D48F-CAEE-0239-AE2C-75148482B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D19CD-1906-3181-D52E-0172FE47B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3390-63D3-C255-5356-A59EB793B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ABB8B-AEC4-1819-D229-F84760F0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BADAA-A0A3-43E8-4DC4-6C48A9C7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31918-C96C-CCB2-2234-DD881B12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27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3211-42A3-FD2E-17A1-B634878C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9DBD1-8F56-1225-CB03-131F9264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A41EE-3823-7FB1-7DC8-A3900C17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66251-D263-1D7A-8FBE-ACCA34F6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54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3FBD8-0ED2-6F7E-938B-233EB8B6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8CF57-5FE7-A058-229C-CF2C7FA1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1F02F-FFF7-CEDF-985D-8BB20048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65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6458-CB7C-D58A-B834-8B374DEC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307A3-A7F2-890B-289A-F032F57E8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6C145-8680-636C-2BAC-FCBF79754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A0628-933F-B225-4884-836085EE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93F92-12C1-F54F-98F0-DD70C486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98E05-FEB1-7F0D-42B8-3FC94AF2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38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7E18-1591-ED5E-145D-39EBC5FB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9BEA6-968E-F77B-F99A-0AC9DA3E6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A0EFE-68A3-EC06-3D57-235502BD7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335F7-5045-0C7C-C2A3-CF31F3A9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981A3-D77E-E040-9731-B08E8937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DB298-C3F3-0E5D-37EA-E9EC7F2B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9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4723-B20C-6C24-DEEF-EC013087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EEAE0-8CCA-FBAF-EF0D-8FC623B3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5CC8-ECA7-7505-566F-0C15F690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5EB72-C835-15CB-79F4-CA4A07DC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1E87-B9B5-25BA-AA4A-9186E08B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4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32764-28A5-6F4D-B85E-6C451C8D1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39DDF-DC12-1E69-BB17-D8BAF0656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99FFA-CEFD-3499-9086-9441A233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7EC6-3FBD-6681-04E6-55B95662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1914F-955F-4CDD-78C2-E1F6E6C0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0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B0F15-6C76-92E8-F148-398B611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F114F-6CA5-9632-9733-DC645A068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BEAB8-2B38-5232-C7EA-D73D8289B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4D266-5368-42C2-8C58-56DD97B9A66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6810A-5C13-C4E2-472C-CFD148F24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A367-CD28-5A36-33F2-EBAADA530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CDFDC-343F-4D92-B73D-82330DDB3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0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C35B8-63A4-5114-672B-674D05F92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/>
              <a:t>Information Security Management System (ISMS) Policy Summaries</a:t>
            </a:r>
            <a:endParaRPr lang="en-IN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D1B90-9538-1BAA-86B5-62E2F08B5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A Consolidated Overview of Key ISMS Policies</a:t>
            </a:r>
            <a:endParaRPr lang="en-IN"/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A72C5-10B5-E555-B859-73C4FC7B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277913-BA95-4C8F-B183-3C9D7DEC48B5}" type="datetime1">
              <a:rPr lang="en-IN" smtClean="0"/>
              <a:pPr>
                <a:spcAft>
                  <a:spcPts val="600"/>
                </a:spcAft>
              </a:pPr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11798-0137-9FC3-8DC0-4DBA1FE4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661" y="5548168"/>
            <a:ext cx="4114800" cy="36512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2300" i="1">
                <a:solidFill>
                  <a:srgbClr val="000000"/>
                </a:solidFill>
                <a:ea typeface="+mn-lt"/>
                <a:cs typeface="+mn-lt"/>
              </a:rPr>
              <a:t>Building Trust, Quality &amp; Growth Together</a:t>
            </a:r>
            <a:endParaRPr lang="en-IN" sz="23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600"/>
              </a:spcAft>
            </a:pPr>
            <a:endParaRPr lang="en-IN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0259897-7C01-8551-32A4-FA453FB4A30B}"/>
              </a:ext>
            </a:extLst>
          </p:cNvPr>
          <p:cNvSpPr/>
          <p:nvPr/>
        </p:nvSpPr>
        <p:spPr>
          <a:xfrm>
            <a:off x="841644" y="59636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Barlow Semi Bold"/>
                <a:ea typeface="Barlow Semi Bold"/>
                <a:cs typeface="Barlow Semi Bold" pitchFamily="34" charset="-120"/>
              </a:rPr>
              <a:t>- </a:t>
            </a:r>
            <a:r>
              <a:rPr lang="en-US" sz="1400" b="1">
                <a:solidFill>
                  <a:srgbClr val="000000"/>
                </a:solidFill>
                <a:latin typeface="Barlow Semi Bold"/>
                <a:ea typeface="Barlow Semi Bold"/>
                <a:cs typeface="Barlow Semi Bold" pitchFamily="34" charset="-120"/>
              </a:rPr>
              <a:t>Kreate Technologies</a:t>
            </a:r>
            <a:endParaRPr lang="en-US" sz="1400">
              <a:latin typeface="Barlow Semi Bold"/>
              <a:ea typeface="Barlow Semi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2E599-415E-412C-015E-A8D1EEDEE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32" y="451138"/>
            <a:ext cx="1671024" cy="56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9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3858-313C-2343-4D51-FE5DDD410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document&#10;&#10;AI-generated content may be incorrect.">
            <a:extLst>
              <a:ext uri="{FF2B5EF4-FFF2-40B4-BE49-F238E27FC236}">
                <a16:creationId xmlns:a16="http://schemas.microsoft.com/office/drawing/2014/main" id="{E42EA311-403B-D630-1D8C-3BACB9958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64" y="-3175"/>
            <a:ext cx="11443352" cy="675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6A9FB0-5204-8EE5-58DD-C76B21BC6980}"/>
              </a:ext>
            </a:extLst>
          </p:cNvPr>
          <p:cNvSpPr txBox="1"/>
          <p:nvPr/>
        </p:nvSpPr>
        <p:spPr>
          <a:xfrm>
            <a:off x="578440" y="1318389"/>
            <a:ext cx="6759892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only authorized users access information systems, based on </a:t>
            </a: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least privilege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and </a:t>
            </a: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need-to-know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principles.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system administrators, servers, VMs, network equipment, applications, and infrastructure.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User Access: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Unique IDs, no shared accounts, formal access requests, periodic reviews.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Privileged Access: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Strictly controlled, requires joint authorization, subject to MFA and logging.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Network Access: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No unauthorized hardware/software, VPNs must be secure, no dual network connections.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Internet Access: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Restricted by role, monitored usage, blocked categories (e.g., social media, gambling).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i="0">
                <a:solidFill>
                  <a:srgbClr val="424242"/>
                </a:solidFill>
                <a:effectLst/>
                <a:latin typeface="Segoe Sans"/>
              </a:rPr>
              <a:t>Wireless Access: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Authenticated access only, guest access limited to filtered internet.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18499-6215-5AA5-94B7-46BE6F8B2ED6}"/>
              </a:ext>
            </a:extLst>
          </p:cNvPr>
          <p:cNvSpPr txBox="1"/>
          <p:nvPr/>
        </p:nvSpPr>
        <p:spPr>
          <a:xfrm>
            <a:off x="7591425" y="844694"/>
            <a:ext cx="4524375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User Access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Unique user IDs and access levels.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Group ID approvals and periodic reviews.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Privileged access approvals and logs (e.g., root, domain admin).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Access revocation logs (especially for exiting employees).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Access Review Documentation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Periodic access reviews (at least twice a year).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Justifications and approvals for access requests.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Exit Management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HR requests for user/email ID removal.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Device and data clearance checklists.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Data backup records for exiting employees.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Network Access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IP address assignments.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VPN access approvals and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Antivirus scan reports for external systems.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Internet Access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Internet access approvals.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Website access requests and approvals.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Logs of blocked categories and exceptions.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Wireless Access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Guest access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Collaboration tool usage records.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632171-BAD2-B5DD-4EF5-19598FCD1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38875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🔐 1. Access Management Policy</a:t>
            </a:r>
          </a:p>
        </p:txBody>
      </p:sp>
    </p:spTree>
    <p:extLst>
      <p:ext uri="{BB962C8B-B14F-4D97-AF65-F5344CB8AC3E}">
        <p14:creationId xmlns:p14="http://schemas.microsoft.com/office/powerpoint/2010/main" val="27061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2157-FC05-DA43-FEA0-97705C84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F55DB-B320-32C9-ADEA-26ABC5DB1399}"/>
              </a:ext>
            </a:extLst>
          </p:cNvPr>
          <p:cNvSpPr txBox="1"/>
          <p:nvPr/>
        </p:nvSpPr>
        <p:spPr>
          <a:xfrm>
            <a:off x="695832" y="1251535"/>
            <a:ext cx="6097904" cy="47243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Protect IT systems and data from malware, viruses, and other malicious threats.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company-owned and BYOD devices connected to the organization’s network.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Mandatory AV Software: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Windows systems must have company-standard antivirus installed.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Updates &amp; Scans: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Daily DAT updates, thrice-weekly scans, weekly scheduled scans.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Infected Devices: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isolated until verified clean.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Removable Media: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scanned before use.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Allowed only with documented protection plans.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Awareness: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Users must avoid suspicious files/emails and report incidents immediately.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42AE7-5879-3979-96B3-97D1A5329CDF}"/>
              </a:ext>
            </a:extLst>
          </p:cNvPr>
          <p:cNvSpPr txBox="1"/>
          <p:nvPr/>
        </p:nvSpPr>
        <p:spPr>
          <a:xfrm>
            <a:off x="7951693" y="1251535"/>
            <a:ext cx="6097904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Antivirus Installation and Update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Installation records on all Windows systems.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Daily DAT update logs from antivirus server.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Scanning Reports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Endpoint scan logs (thrice weekly).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Weekly scheduled scan logs for all assets.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Reports of virus/worm activity.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Actions taken (e.g., isolation, cleaning).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Exception Documentation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Justifications for systems without antivirus.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Plans for protection of such systems.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Review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Bi-annual internal review of infrastructure.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List of assets not updated for more than 15 days.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Removable Media Scan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USB/Hard Drive scan reports before use.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CDF0A6-CBF9-E6DF-8655-76B0A611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🛡️ 2. Anti-Virus Policy</a:t>
            </a:r>
          </a:p>
        </p:txBody>
      </p:sp>
    </p:spTree>
    <p:extLst>
      <p:ext uri="{BB962C8B-B14F-4D97-AF65-F5344CB8AC3E}">
        <p14:creationId xmlns:p14="http://schemas.microsoft.com/office/powerpoint/2010/main" val="197507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4424-8BC2-72D2-3DAD-1332815B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D038CE-604C-DCB9-5A4C-C03475B47428}"/>
              </a:ext>
            </a:extLst>
          </p:cNvPr>
          <p:cNvSpPr txBox="1"/>
          <p:nvPr/>
        </p:nvSpPr>
        <p:spPr>
          <a:xfrm>
            <a:off x="665677" y="1351742"/>
            <a:ext cx="6097904" cy="46474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critical business data is regularly backed up, securely stored, and restorable in case of loss or disaster.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Covers all systems, applications, databases, and files storing critical or confidential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Employee Responsibilities: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Store data in OneDrive, avoid unproductive software.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IT Responsibilities: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Daily/weekly/monthly backups, retention policies, use of Acronis, secure storage (NAS, Cloud, Tape).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Backup Procedures: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Scheduled backups with user notifications, encrypted off-site storage.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Restoration Checks: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Quarterly tests with documentation.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Reporting: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Automated logs, issue tracking, and governance by IT Manager.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EFF8B-8B34-C01F-F97D-9E322EDA4B1B}"/>
              </a:ext>
            </a:extLst>
          </p:cNvPr>
          <p:cNvSpPr txBox="1"/>
          <p:nvPr/>
        </p:nvSpPr>
        <p:spPr>
          <a:xfrm>
            <a:off x="7104049" y="1351742"/>
            <a:ext cx="4773423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Backup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Daily/weekly/monthly backup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Backup type, source/destination, status, volume, errors.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Restoration Test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Restoration test dates, systems/data restored, outcomes, issues.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Backup Infrastructure Documentation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Backup media and location records (NAS, Cloud, Tape).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Tape movement logs and encryption status.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Reporting and Governance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Backup trackers (success/failure, root cause, resolution).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IT Manager and engineer communication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Retention and Storage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Retention periods (e.g., 30-day OneDrive, 7-day attendance DB).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Physical security checks for tape storage.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Policy Enforcement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Deletion of unproductive/unauthorized content.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Compliance checks for data hygiene.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FE4B8A-3F29-BD0E-1710-A934B19A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💾 3. Backup and Restoration Policy</a:t>
            </a:r>
          </a:p>
        </p:txBody>
      </p:sp>
    </p:spTree>
    <p:extLst>
      <p:ext uri="{BB962C8B-B14F-4D97-AF65-F5344CB8AC3E}">
        <p14:creationId xmlns:p14="http://schemas.microsoft.com/office/powerpoint/2010/main" val="95818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21B7F-C4FD-6DAD-F5D6-CFCB6054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BBEA-259A-552D-7710-987601B4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424242"/>
                </a:solidFill>
                <a:latin typeface="Segoe Sans"/>
              </a:rPr>
              <a:t>🖥️ 4. Equipment Security Policy</a:t>
            </a:r>
            <a:endParaRPr lang="en-IN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21E61-7F6F-DD5F-6545-65AB767F3A3C}"/>
              </a:ext>
            </a:extLst>
          </p:cNvPr>
          <p:cNvSpPr txBox="1"/>
          <p:nvPr/>
        </p:nvSpPr>
        <p:spPr>
          <a:xfrm>
            <a:off x="735825" y="1379298"/>
            <a:ext cx="6097904" cy="48167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the protection and availability of information processing equipment from threats like theft, damage, or unauthorized access.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 and vendors responsible for equipment maintenance.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Security Controls: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UPS for all PCs, environmental monitoring, insurance, and maintenance logs.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Media Handling: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Secure disposal of storage devices; no off-site movement without authorization.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Cabling: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Secure installation, labeling, and maintenance; separation of power and data lines.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Disposal: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Equipment must be cleansed of data/software before disposal; disposal must follow environmental and safety regulations.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55B0C-853B-7783-F3B7-59676A65F2CC}"/>
              </a:ext>
            </a:extLst>
          </p:cNvPr>
          <p:cNvSpPr txBox="1"/>
          <p:nvPr/>
        </p:nvSpPr>
        <p:spPr>
          <a:xfrm>
            <a:off x="7827599" y="442000"/>
            <a:ext cx="4110848" cy="66787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Maintenance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Hardware maintenance logs with service intervals.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Alerts for expiring support/warranty periods.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Configuration Documentation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Specifications of critical hardware/software.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Periodic reviews and updates.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Repair and Disposal Records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Equipment repair list.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Disposal method verification from asset list.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Media Disposal Sheet.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Access and Security Controls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Logs of authorized personnel for repairs.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Locking mechanisms and password protection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Cabling Documentation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Cable labeling and routing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Cabling inspection and maintenance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Retirement and Disposal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Asset retirement approvals.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Disposal records (sale, destruction).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Backup confirmation before disposal.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Equipment Database updates.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Disposal certification from third-party vendors.</a:t>
            </a:r>
          </a:p>
        </p:txBody>
      </p:sp>
    </p:spTree>
    <p:extLst>
      <p:ext uri="{BB962C8B-B14F-4D97-AF65-F5344CB8AC3E}">
        <p14:creationId xmlns:p14="http://schemas.microsoft.com/office/powerpoint/2010/main" val="129795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6288-485B-F1F8-DA01-756E48A4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6929F-7067-F90F-4A81-56A73EEF46B1}"/>
              </a:ext>
            </a:extLst>
          </p:cNvPr>
          <p:cNvSpPr txBox="1"/>
          <p:nvPr/>
        </p:nvSpPr>
        <p:spPr>
          <a:xfrm>
            <a:off x="838200" y="1035932"/>
            <a:ext cx="6097904" cy="47243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Define rules for employees using personal devices to access company systems, ensuring data security and compliance.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 parties using personal devices for work.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Device Eligibility: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Only approved, secure devices allowed.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Security Requirements: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Antivirus, encryption, remote wipe, no jailbreaking.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Access Control: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MFA and role-based access required.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IT may monitor access and enforce compliance.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Exit Procedure: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Company data must be removed from personal devices upon termination.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Enforcement: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Violations may lead to disciplinary action or termination.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DE92D-B663-6AD5-2854-F433C10C5481}"/>
              </a:ext>
            </a:extLst>
          </p:cNvPr>
          <p:cNvSpPr txBox="1"/>
          <p:nvPr/>
        </p:nvSpPr>
        <p:spPr>
          <a:xfrm>
            <a:off x="8097203" y="1037242"/>
            <a:ext cx="4094797" cy="60939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Non-Disclosure Agreements (NDAs)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Signed NDAs for all BYOD users.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Device Eligibility and Compliance Logs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Approved device list and security compliance checks.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Antivirus/firewall status and encryption verification.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Access Control Records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MFA logs and role-based access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Lost/stolen device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Policy violation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Monitoring Logs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Device access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Compliance enforcement actions.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Exit Procedure Documentation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Revocation of access.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Data removal confirmation from personal devices.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285779-41BA-8345-9308-16BB9F124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IN" sz="2800" b="1">
                <a:solidFill>
                  <a:srgbClr val="424242"/>
                </a:solidFill>
                <a:latin typeface="Segoe Sans"/>
              </a:rPr>
              <a:t>📱 ISMS-PO-05: BYOD (Bring Your Own Device) Policy</a:t>
            </a:r>
          </a:p>
        </p:txBody>
      </p:sp>
    </p:spTree>
    <p:extLst>
      <p:ext uri="{BB962C8B-B14F-4D97-AF65-F5344CB8AC3E}">
        <p14:creationId xmlns:p14="http://schemas.microsoft.com/office/powerpoint/2010/main" val="2658764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0F2C-646B-3983-4E51-8A06A861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7E7411-DFF8-F1E1-3A31-EA143C93B4BF}"/>
              </a:ext>
            </a:extLst>
          </p:cNvPr>
          <p:cNvSpPr txBox="1"/>
          <p:nvPr/>
        </p:nvSpPr>
        <p:spPr>
          <a:xfrm>
            <a:off x="490605" y="1160849"/>
            <a:ext cx="6575107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all organizational assets are identified, classified, protected, and managed throughout their lifecycle.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Covers all physical, digital, and intellectual assets owned or managed by the organization.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Asset Types: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Includes hardware, software, information, paper, and intellectual property.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Inventory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Regular updates, tagging, and classification based on criticality.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Loss/Theft: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reported immediately; employees may bear financial responsibility.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Disposal: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Secure disposal of hardware, software, and media; compliance with environmental and legal standards.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Reuse: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Sanitization and proper documentation required before reuse or reassignment.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2B6DE-C7F2-10A0-9045-E086C9A5CE69}"/>
              </a:ext>
            </a:extLst>
          </p:cNvPr>
          <p:cNvSpPr txBox="1"/>
          <p:nvPr/>
        </p:nvSpPr>
        <p:spPr>
          <a:xfrm>
            <a:off x="7367534" y="360136"/>
            <a:ext cx="4828222" cy="64248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Asset Inventory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Asset type, ownership, identifier (tag/serial), location.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Criticality, procurement date, last review date.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Asset valuation based on CIA (Confidentiality, Integrity, Availability).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Asset Allocation and Return Logs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Desktop/Laptop allocation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Asset return logs upon termination.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Loss/Theft Reports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FIR copies for stolen assets.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Incident management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Disposal Records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Disposal approvals and asset </a:t>
            </a:r>
            <a:r>
              <a:rPr lang="en-IN" sz="1100" b="0" i="0" err="1">
                <a:solidFill>
                  <a:srgbClr val="424242"/>
                </a:solidFill>
                <a:effectLst/>
                <a:latin typeface="Segoe Sans"/>
              </a:rPr>
              <a:t>labeling</a:t>
            </a: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 (e-waste).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Backup confirmation before formatting.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Disposal certification from third-party vendors.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Software Disposal Documentation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Archival checks and license reassignment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Dependency assessments and health checks.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Media Disposal Records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Sanitization logs (overwriting, destruction).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Certification from third-party disposal services.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100" b="1" i="0">
                <a:solidFill>
                  <a:srgbClr val="424242"/>
                </a:solidFill>
                <a:effectLst/>
                <a:latin typeface="Segoe Sans"/>
              </a:rPr>
              <a:t>Reuse Documentation</a:t>
            </a:r>
            <a:endParaRPr lang="en-IN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Authorization for reuse.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100" b="0" i="0">
                <a:solidFill>
                  <a:srgbClr val="424242"/>
                </a:solidFill>
                <a:effectLst/>
                <a:latin typeface="Segoe Sans"/>
              </a:rPr>
              <a:t>Sanitization and asset register updates.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C24B02E-46A5-73BA-3559-EE9F163E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8674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🧾 6. Asset Management Policy</a:t>
            </a:r>
          </a:p>
        </p:txBody>
      </p:sp>
    </p:spTree>
    <p:extLst>
      <p:ext uri="{BB962C8B-B14F-4D97-AF65-F5344CB8AC3E}">
        <p14:creationId xmlns:p14="http://schemas.microsoft.com/office/powerpoint/2010/main" val="13039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5C2C-B821-5AAD-C8CB-1B54B385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31149F-B16D-4161-A924-39E20518E335}"/>
              </a:ext>
            </a:extLst>
          </p:cNvPr>
          <p:cNvSpPr txBox="1"/>
          <p:nvPr/>
        </p:nvSpPr>
        <p:spPr>
          <a:xfrm>
            <a:off x="301166" y="1391669"/>
            <a:ext cx="6097904" cy="46474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Minimize the risk of data loss, malware infections, and unauthorized access through removable media.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third-party vendors at Kreate Technologies.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Usage Restrictions: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Only HODs may use removable media with proper approval.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Approval Process: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USB access must be time-bound and approved by HOD and Infra Head.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Security Measures: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removable media must be encrypted/password-protected.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Unacceptable Use: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No personal devices, unauthorized software installations, or saving sensitive data without approval.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Enforcement: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Violations may lead to disciplinary or legal action.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E1A05-1F6A-C0B3-F2ED-3D05E52BFAD7}"/>
              </a:ext>
            </a:extLst>
          </p:cNvPr>
          <p:cNvSpPr txBox="1"/>
          <p:nvPr/>
        </p:nvSpPr>
        <p:spPr>
          <a:xfrm>
            <a:off x="6876796" y="893281"/>
            <a:ext cx="5018722" cy="44165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USB Access Forms or Email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Start and end dates of access.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Approvals from HOD and Infra Head.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Quarterly Review Logs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Re-approval records for continued USB access.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Encryption/Password Protection Logs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Confirmation of encryption for transported media.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Authorization Records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Approval logs for use of removable media by HODs or subcontractors.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Misuse or unauthorized use of removable media.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Disciplinary actions taken.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Security Procedure Documentation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Risk assessments for subcontractor use.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Physical protection measures during use, storage, and transit.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73C94E-16BE-A078-B8CD-8C32707F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8674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💽 7. Removable Media Policy </a:t>
            </a:r>
          </a:p>
        </p:txBody>
      </p:sp>
    </p:spTree>
    <p:extLst>
      <p:ext uri="{BB962C8B-B14F-4D97-AF65-F5344CB8AC3E}">
        <p14:creationId xmlns:p14="http://schemas.microsoft.com/office/powerpoint/2010/main" val="366202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662CC-A085-78BE-5E09-119EC5D8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402334-FDC5-A532-AAB2-A02D82815352}"/>
              </a:ext>
            </a:extLst>
          </p:cNvPr>
          <p:cNvSpPr txBox="1"/>
          <p:nvPr/>
        </p:nvSpPr>
        <p:spPr>
          <a:xfrm>
            <a:off x="838200" y="1192086"/>
            <a:ext cx="6097904" cy="52168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secure, compliant, and efficient use of cloud services while protecting sensitive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vendors using cloud services on behalf of the organization.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Vendor Selection: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CSPs must meet security and compliance standards.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Data Handling: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Data must be classified and encrypted in transit and at rest.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Access Control: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Enforce least privilege, MFA, and regular audits.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Enable audit logging and define incident response plans.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Align with legal, regulatory, and data residency requirements.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Vendor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 security clauses in contracts and conduct periodic risk assessments.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72BAD-78CA-AD50-F2C8-0B01BEAEF1EC}"/>
              </a:ext>
            </a:extLst>
          </p:cNvPr>
          <p:cNvSpPr txBox="1"/>
          <p:nvPr/>
        </p:nvSpPr>
        <p:spPr>
          <a:xfrm>
            <a:off x="7772400" y="519913"/>
            <a:ext cx="4295775" cy="605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Vendor Assessment Reports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Security and compliance evaluations of CSPs.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Cloud Service Approval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Management approvals for onboarding cloud services.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Data Classification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Classification categories and associated controls.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Encryption Implementation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Encryption status for data in transit and at rest.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IAM configurations, MFA enforcement, and access reviews.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Audit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Cloud storage access and modification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Incident Response Plans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Defined roles and communication channels.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Compliance Documentation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Legal and regulatory alignment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Data residency and sovereignty compliance.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End-user training sessions and attendance.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Vendor Contracts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Security clauses and SLA tracking.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Vendor Risk Assessments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Periodic evaluations of CSPs.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07019A-4FD6-0133-6023-38AB23F65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8674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☁️ 8. Cloud Management Policy</a:t>
            </a:r>
          </a:p>
        </p:txBody>
      </p:sp>
    </p:spTree>
    <p:extLst>
      <p:ext uri="{BB962C8B-B14F-4D97-AF65-F5344CB8AC3E}">
        <p14:creationId xmlns:p14="http://schemas.microsoft.com/office/powerpoint/2010/main" val="299401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3C01-E61B-589A-1D30-E4948FE1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8A4F49-978F-CA8F-3853-6DD412277A74}"/>
              </a:ext>
            </a:extLst>
          </p:cNvPr>
          <p:cNvSpPr txBox="1"/>
          <p:nvPr/>
        </p:nvSpPr>
        <p:spPr>
          <a:xfrm>
            <a:off x="714375" y="493437"/>
            <a:ext cx="6097904" cy="66325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 deletion of data and protection of sensitive information through masking techniques.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third-party vendors handling organizational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🔒 Data Deletion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Secure Erasure: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 industry-standard tools for digital data; shred physical documents.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Retention: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Follow legal and regulatory retention periods.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Third-Party Disposal: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Vendors must comply with secure disposal standards.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Auditing: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Maintain records and conduct regular compliance audits.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🕵️ Data Masking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Techniques: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Randomization, substitution, encryption.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PII Protection: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Mask names, addresses, SSNs, financial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Roles: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Data Owners define rules; Custodians implement; IT Security audits.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documented and approved with compensating controls.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70C35-125E-B4AC-6B56-817D09430FEC}"/>
              </a:ext>
            </a:extLst>
          </p:cNvPr>
          <p:cNvSpPr txBox="1"/>
          <p:nvPr/>
        </p:nvSpPr>
        <p:spPr>
          <a:xfrm>
            <a:off x="7306052" y="639115"/>
            <a:ext cx="467868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Data Deletion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Secure Erasure Logs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Use of data wiping tools before disposal.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Retention and Disposal Records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Adherence to retention periods.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Disposal methods for PII.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Obsolete Data Review Logs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Regular reviews and deletion actions.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Physical Shredding Logs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Shredding of sensitive documents.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Third-Party Disposal Contracts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Clauses ensuring secure disposal practices.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Deletion Activity Documentation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Referenced in ISMS Master List of Records and Retention Periods.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Data Masking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>
                <a:solidFill>
                  <a:srgbClr val="424242"/>
                </a:solidFill>
                <a:latin typeface="Segoe Sans"/>
              </a:rPr>
              <a:t>Masking Rule Definitions</a:t>
            </a:r>
            <a:endParaRPr lang="en-US" sz="900">
              <a:solidFill>
                <a:srgbClr val="424242"/>
              </a:solidFill>
              <a:latin typeface="Segoe Sans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>
                <a:solidFill>
                  <a:srgbClr val="424242"/>
                </a:solidFill>
                <a:latin typeface="Segoe Sans"/>
              </a:rPr>
              <a:t>Rules for PII elements (e.g., names, addresses, SSNs).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>
                <a:solidFill>
                  <a:srgbClr val="424242"/>
                </a:solidFill>
                <a:latin typeface="Segoe Sans"/>
              </a:rPr>
              <a:t>Implementation Logs</a:t>
            </a:r>
            <a:endParaRPr lang="en-US" sz="900">
              <a:solidFill>
                <a:srgbClr val="424242"/>
              </a:solidFill>
              <a:latin typeface="Segoe Sans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>
                <a:solidFill>
                  <a:srgbClr val="424242"/>
                </a:solidFill>
                <a:latin typeface="Segoe Sans"/>
              </a:rPr>
              <a:t>Masking in non-production environments.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>
                <a:solidFill>
                  <a:srgbClr val="424242"/>
                </a:solidFill>
                <a:latin typeface="Segoe Sans"/>
              </a:rPr>
              <a:t>Audit Reports</a:t>
            </a:r>
            <a:endParaRPr lang="en-US" sz="900">
              <a:solidFill>
                <a:srgbClr val="424242"/>
              </a:solidFill>
              <a:latin typeface="Segoe Sans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>
                <a:solidFill>
                  <a:srgbClr val="424242"/>
                </a:solidFill>
                <a:latin typeface="Segoe Sans"/>
              </a:rPr>
              <a:t>Periodic audits of masking compliance.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>
                <a:solidFill>
                  <a:srgbClr val="424242"/>
                </a:solidFill>
                <a:latin typeface="Segoe Sans"/>
              </a:rPr>
              <a:t>Exception Approvals</a:t>
            </a:r>
            <a:endParaRPr lang="en-US" sz="900">
              <a:solidFill>
                <a:srgbClr val="424242"/>
              </a:solidFill>
              <a:latin typeface="Segoe Sans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>
                <a:solidFill>
                  <a:srgbClr val="424242"/>
                </a:solidFill>
                <a:latin typeface="Segoe Sans"/>
              </a:rPr>
              <a:t>Documented business-justified exceptions.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D9D813-7550-4554-0228-89A37495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3963"/>
            <a:ext cx="99060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🧹 ISMS-PO-09: Data Deletion and Data Masking Policy</a:t>
            </a:r>
          </a:p>
        </p:txBody>
      </p:sp>
    </p:spTree>
    <p:extLst>
      <p:ext uri="{BB962C8B-B14F-4D97-AF65-F5344CB8AC3E}">
        <p14:creationId xmlns:p14="http://schemas.microsoft.com/office/powerpoint/2010/main" val="80333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09D9-FA8B-55C7-7003-140AA64A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BCDC4E-A725-0810-D642-23141F4700A0}"/>
              </a:ext>
            </a:extLst>
          </p:cNvPr>
          <p:cNvSpPr txBox="1"/>
          <p:nvPr/>
        </p:nvSpPr>
        <p:spPr>
          <a:xfrm>
            <a:off x="607696" y="1544350"/>
            <a:ext cx="5220652" cy="51398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secure, professional, and appropriate use of email to prevent unauthorized disclosure of sensitive information.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 using organizational email systems.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Professional Use: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Emails must be used for business purposes only.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Security: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Avoid sending sensitive data without authorization; antivirus must be active.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Restrictions: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No spoofing, chain mails, or inappropriate content; no executable attachments.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Emails may be monitored with senior management approval.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Regular audits; violations may lead to disciplinary action.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F7E3D-2C62-F72F-A2B8-B0FEAE9C5589}"/>
              </a:ext>
            </a:extLst>
          </p:cNvPr>
          <p:cNvSpPr txBox="1"/>
          <p:nvPr/>
        </p:nvSpPr>
        <p:spPr>
          <a:xfrm>
            <a:off x="6363653" y="953895"/>
            <a:ext cx="5666422" cy="59093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Email Usage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Logs of email activity for monitoring and forensic purposes (retained for 30 days).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Mailbox Access Records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Documentation of mailbox access granted to IT/Helpdesk.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Security Incident Reports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Reports of inappropriate material, spoofed emails, or unauthorized access.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 Audit Reports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Regular compliance checks by the Information Systems Security Department.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Distribution List Management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Records of broadcast/distribution list maintenance and security.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Antivirus Status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Confirmation of antivirus running on devices accessing email.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0C5F8A-D100-EDD7-1C44-3B996E2E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867400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✉️ 10. Email Use Policy </a:t>
            </a:r>
          </a:p>
        </p:txBody>
      </p:sp>
    </p:spTree>
    <p:extLst>
      <p:ext uri="{BB962C8B-B14F-4D97-AF65-F5344CB8AC3E}">
        <p14:creationId xmlns:p14="http://schemas.microsoft.com/office/powerpoint/2010/main" val="3955094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9CB0-A22B-F081-3443-FCB76FBB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05282C-F385-79A0-BC90-6148FB1C7169}"/>
              </a:ext>
            </a:extLst>
          </p:cNvPr>
          <p:cNvSpPr txBox="1"/>
          <p:nvPr/>
        </p:nvSpPr>
        <p:spPr>
          <a:xfrm>
            <a:off x="696278" y="1763343"/>
            <a:ext cx="6097904" cy="46474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Define rules for the secure use of cryptography and encryption to protect sensitive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 parties accessing organizational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Cryptography Controls: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Mobile devices must not store official data; backups required; software installation controlled by IT.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Encryption Practices: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Desktops: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Generally lower risk, encryption not mandatory.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Laptops: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Critical data should be backed up and stored securely.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Follow standard procedures for encryption and key handling.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082F2-9DFB-57B8-14EB-555F9321662A}"/>
              </a:ext>
            </a:extLst>
          </p:cNvPr>
          <p:cNvSpPr txBox="1"/>
          <p:nvPr/>
        </p:nvSpPr>
        <p:spPr>
          <a:xfrm>
            <a:off x="6941056" y="953372"/>
            <a:ext cx="4799647" cy="59093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Device Issuance and Return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Records of issued devices and their return/inspection.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Backup Records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Regular backups for devices storing sensitive data.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Awareness and training logs for employees using mobile devices.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Software Installation Approvals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IT Head approvals for software installations on mobile devices.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Encryption Implementation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Evidence of encryption for restricted/confidential data on devices.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Management Documentation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Procedures and logs for cryptographic key management.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4FE168-4D49-663D-67EC-7C80C1DA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9534525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🔐 11. Encryption and Cryptography Control Policy</a:t>
            </a:r>
          </a:p>
        </p:txBody>
      </p:sp>
    </p:spTree>
    <p:extLst>
      <p:ext uri="{BB962C8B-B14F-4D97-AF65-F5344CB8AC3E}">
        <p14:creationId xmlns:p14="http://schemas.microsoft.com/office/powerpoint/2010/main" val="15533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61A4-E60B-6BC8-AE68-7AEB896A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DBA528-4D05-2ED2-9D7D-F816F5486C28}"/>
              </a:ext>
            </a:extLst>
          </p:cNvPr>
          <p:cNvSpPr txBox="1"/>
          <p:nvPr/>
        </p:nvSpPr>
        <p:spPr>
          <a:xfrm>
            <a:off x="751932" y="1042832"/>
            <a:ext cx="6097904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 separation of development, testing, staging, and production environments to prevent unauthorized access or changes.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users managing or accessing code and environments.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Development: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Access for TL/PM and developers; no access for QA.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Testing (QA):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Access for TL/PM and QA (read-only); no access for developers.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Staging/UAT: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Access for TL/PM; customers get read-only access.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Production: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Only PM/Infra Manager and Release Manager have written access.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Promotion Requirements: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Each phase requires defect logging, code reviews, and approvals before moving to the next.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E5882-D8A0-82B1-A739-478649B2287D}"/>
              </a:ext>
            </a:extLst>
          </p:cNvPr>
          <p:cNvSpPr txBox="1"/>
          <p:nvPr/>
        </p:nvSpPr>
        <p:spPr>
          <a:xfrm>
            <a:off x="6849428" y="1046667"/>
            <a:ext cx="4990147" cy="56630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Role-based access records for each environment (Dev, QA, UAT, Prod).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Code Review and Testing Records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Code review completion, defect logs in Jira, unit testing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Build and Deployment Documentation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Build labelling, release notes, deployment instructions.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Defect Tracking and RCA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UAT defect logs and root cause analysis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Audit Reports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QA audit reports before production release.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Environment Transfer Approvals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Approvals for build deployment across environments.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8BE28A-741A-C4ED-25AE-6FB4A266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9534525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🧪 12. Environment Segregation Policy</a:t>
            </a:r>
          </a:p>
        </p:txBody>
      </p:sp>
    </p:spTree>
    <p:extLst>
      <p:ext uri="{BB962C8B-B14F-4D97-AF65-F5344CB8AC3E}">
        <p14:creationId xmlns:p14="http://schemas.microsoft.com/office/powerpoint/2010/main" val="1787528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2F11-5130-6FAE-01DB-4EF92AA5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F788A1-4011-77DB-6272-2951D3BF3451}"/>
              </a:ext>
            </a:extLst>
          </p:cNvPr>
          <p:cNvSpPr txBox="1"/>
          <p:nvPr/>
        </p:nvSpPr>
        <p:spPr>
          <a:xfrm>
            <a:off x="428237" y="671114"/>
            <a:ext cx="4990147" cy="62632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400" b="0" i="0">
                <a:effectLst/>
                <a:latin typeface="Segoe Sans"/>
              </a:rPr>
            </a:b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Define a consistent framework for classifying, labeling, handling, and destroying information assets based on sensitivity and business impact.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400" b="0" i="0">
                <a:effectLst/>
                <a:latin typeface="Segoe Sans"/>
              </a:rPr>
            </a:b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third parties, and all information assets across all formats and environments.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Classification Levels: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Business Confidential – Contractual/Legal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Business Confidential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Internal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(default)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Unclassified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Responsibilities: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Asset owners must classify and label information; reclassification allowed by superiors or based on time/events.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Labeling: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Clear labeling required for each classification; encryption and IRM tools recommended.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Handling: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Access on a need-to-know basis; secure storage and destruction required.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Unauthorized Acts: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Strict penalties for unauthorized access, sharing, or tampering.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Destruction: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 Must follow the defined destruction policy with proper records.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DBAA4-341D-698E-69B2-8B5B89480DC5}"/>
              </a:ext>
            </a:extLst>
          </p:cNvPr>
          <p:cNvSpPr txBox="1"/>
          <p:nvPr/>
        </p:nvSpPr>
        <p:spPr>
          <a:xfrm>
            <a:off x="5954575" y="752344"/>
            <a:ext cx="6097904" cy="60939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Classification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Initial classification by asset owner or creator.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Reclassification logs (event/time-based or superior-directed).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Labeling Documentation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Labeling of documents/media with classification tags (e.g., BC-C/L, Business Confidential).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Use of IRM tools or encryption for classified documents.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Access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Logs of access to Business Confidential – Contractual/Legal information.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Audit trails for classified information.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Storage and Handling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Secure storage location documentation.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Marking of physical folders/files.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Destruction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Logs of destruction of classified information per Destruction Policy.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Audit Certificates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Internal audit team certificates for classified information verification.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7801F0-FA0D-B425-EFDA-B4CE6ED9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5"/>
            <a:ext cx="9534525" cy="673100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🗂️ 13. Information Security Classification Policy</a:t>
            </a:r>
          </a:p>
        </p:txBody>
      </p:sp>
    </p:spTree>
    <p:extLst>
      <p:ext uri="{BB962C8B-B14F-4D97-AF65-F5344CB8AC3E}">
        <p14:creationId xmlns:p14="http://schemas.microsoft.com/office/powerpoint/2010/main" val="2353554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58A7A-D6C6-BB1F-00EB-9343979E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A0092-D31E-DFF4-C4B6-EDB0220FFF53}"/>
              </a:ext>
            </a:extLst>
          </p:cNvPr>
          <p:cNvSpPr txBox="1"/>
          <p:nvPr/>
        </p:nvSpPr>
        <p:spPr>
          <a:xfrm>
            <a:off x="838200" y="881100"/>
            <a:ext cx="6097904" cy="60170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protection and responsible handling of PII in compliance with laws and organizational standards.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personnel and systems handling PII within the organization.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PII Includes: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Names, DOB, IDs (PAN, Aadhaar), contact info, financial and health data, biometrics.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Policy Requirements: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Classify PII as confidential.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Restrict access using role-based controls.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Encrypt PII in transit and at rest.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Use secure channels for transmission.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Store in access-controlled environments.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Retain only as long as necessary; securely dispose.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Incident Response: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Breaches must be reported and handled per the incident management policy.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Non-compliance may lead to disciplinary or legal action.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9D7C4-BB72-070C-9795-B9FE748DAD72}"/>
              </a:ext>
            </a:extLst>
          </p:cNvPr>
          <p:cNvSpPr txBox="1"/>
          <p:nvPr/>
        </p:nvSpPr>
        <p:spPr>
          <a:xfrm>
            <a:off x="7665721" y="1038226"/>
            <a:ext cx="4373879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PII Classification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Labelling and classification of PII as Confidential.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Role-based access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Access reviews and authentication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Encryption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Encryption status for PII in transit and at rest.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Encryption in software solutions.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Transmission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Secure channel usage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Avoidance of unencrypted transmission.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Storage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Secure storage location documentation.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Access permission reviews.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Retention and Disposal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Retention periods (referenced in ISMS Master List).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Secure disposal records (shredding, deletion).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Breach reports and resolution documentation.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Reference to Incident Management Process.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Compliance Documentation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Legal and regulatory compliance records (e.g., IT Act, GDPR).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E93082-A1E5-1A57-F463-C57A937963FE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🔐 14. Personally Identifiable Information (PII) Policy</a:t>
            </a:r>
          </a:p>
        </p:txBody>
      </p:sp>
    </p:spTree>
    <p:extLst>
      <p:ext uri="{BB962C8B-B14F-4D97-AF65-F5344CB8AC3E}">
        <p14:creationId xmlns:p14="http://schemas.microsoft.com/office/powerpoint/2010/main" val="1652087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FF37-C227-71C5-B90D-C9F30FA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41322A-F93C-365D-AD47-4DC13F1E334A}"/>
              </a:ext>
            </a:extLst>
          </p:cNvPr>
          <p:cNvSpPr txBox="1"/>
          <p:nvPr/>
        </p:nvSpPr>
        <p:spPr>
          <a:xfrm>
            <a:off x="838199" y="1011700"/>
            <a:ext cx="6097904" cy="58477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timely detection, reporting, and resolution of information security incidents to protect systems and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users, including staff, contractors, and third-party suppliers.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Employee Responsibilities: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Report unusual behavior, malware, or data loss.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Disconnect infected systems and avoid using removable media.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IT Responsibilities: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Centralized reporting and escalation.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Maintain logs and monitor for policy violations.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Incident Handling: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Analyze events and escalate to incidents.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Collect forensic evidence following strict protocols.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Inform stakeholders and senior management.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Provide RCA and document incidents in review meetings.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07F0C-924E-87A5-798D-D70A9695A338}"/>
              </a:ext>
            </a:extLst>
          </p:cNvPr>
          <p:cNvSpPr txBox="1"/>
          <p:nvPr/>
        </p:nvSpPr>
        <p:spPr>
          <a:xfrm>
            <a:off x="7583329" y="1008888"/>
            <a:ext cx="4465796" cy="63863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Reports of security events and weaknesses.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Logs of symptoms, error messages, and actions taken.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Event and Weakness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Reports from employees and IT support staff.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Monitoring of service provider responses.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Incident Response Documentation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Escalation procedures and contingency plans.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RCA (Root Cause Analysis)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Evidence Collection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Forensic evidence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Internal audit guidance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Stakeholder Communication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Notifications to senior management.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Review meeting presentations.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Improvement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Lessons learned and process improvement documentation.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F04468-2080-B8A5-F9C8-ACF6258D8221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🚨 15. Incident Management Policy</a:t>
            </a:r>
          </a:p>
        </p:txBody>
      </p:sp>
    </p:spTree>
    <p:extLst>
      <p:ext uri="{BB962C8B-B14F-4D97-AF65-F5344CB8AC3E}">
        <p14:creationId xmlns:p14="http://schemas.microsoft.com/office/powerpoint/2010/main" val="2804529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6AD1-32AB-C1DB-DCB3-0C1B811C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4251EE-B990-4187-4E88-4350D5C8209E}"/>
              </a:ext>
            </a:extLst>
          </p:cNvPr>
          <p:cNvSpPr txBox="1"/>
          <p:nvPr/>
        </p:nvSpPr>
        <p:spPr>
          <a:xfrm>
            <a:off x="838199" y="1045423"/>
            <a:ext cx="4875847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Establish guidelines for using web filtering technology to ensure a secure and productive online environment.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devices, remote users, and third parties accessing the company’s internet or systems.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Filtering System: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Blocks access to risky or non-work-related websites via firewall and antivirus.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Blocked Categories: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Adult content, gambling, hacking, malware, phishing, and social media (unless work-related).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Web activity is monitored; logs and reports may be reviewed.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Can be requested through IT for legitimate business needs.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Enforcement: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Violations may lead to disciplinary or legal action.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4EB7ED-21EC-177F-DB19-FCD070548209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🌐 16. Web Filtering Policy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4998F-DF98-B4F6-12A5-8640099846E0}"/>
              </a:ext>
            </a:extLst>
          </p:cNvPr>
          <p:cNvSpPr txBox="1"/>
          <p:nvPr/>
        </p:nvSpPr>
        <p:spPr>
          <a:xfrm>
            <a:off x="6926835" y="951344"/>
            <a:ext cx="4628197" cy="59093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Web Activity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Logs of user browsing activity for monitoring and compliance.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Blocked Content Categories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List of blocked categories (e.g., adult, gambling, malware).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 Requests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Approved exception requests for access to blocked content.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Firewall and Antivirus Configuration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Documentation of web filtering setup via security tools.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Policy Violation Reports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Records of violations and disciplinary actions taken.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Review and Revision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Annual review documentation and policy updates.</a:t>
            </a:r>
          </a:p>
        </p:txBody>
      </p:sp>
    </p:spTree>
    <p:extLst>
      <p:ext uri="{BB962C8B-B14F-4D97-AF65-F5344CB8AC3E}">
        <p14:creationId xmlns:p14="http://schemas.microsoft.com/office/powerpoint/2010/main" val="2891907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C7F5-F981-3955-6603-C52ED66F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D7232D-E149-131B-7EC3-CCEB28B6B4CE}"/>
              </a:ext>
            </a:extLst>
          </p:cNvPr>
          <p:cNvSpPr txBox="1"/>
          <p:nvPr/>
        </p:nvSpPr>
        <p:spPr>
          <a:xfrm>
            <a:off x="836604" y="1214280"/>
            <a:ext cx="6097904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changes to IT systems are managed systematically to minimize risk and maintain service continuity.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Covers all IT systems, environments (Dev, UAT, Prod), and personnel involved in changes.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Change Requests: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changes require formal written requests and IT Head approval.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Routine Changes: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Can be implemented by IT team (e.g., firewall rules).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Emergency Changes: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Require verbal approval and post-change documentation.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Review &amp; Logging: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changes must be reviewed and logged, whether successful or not.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Customer Notification: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Required for both scheduled and unscheduled changes.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EA2EE-380D-AD01-41C3-CDCE512692D1}"/>
              </a:ext>
            </a:extLst>
          </p:cNvPr>
          <p:cNvSpPr txBox="1"/>
          <p:nvPr/>
        </p:nvSpPr>
        <p:spPr>
          <a:xfrm>
            <a:off x="6930726" y="1216749"/>
            <a:ext cx="5113972" cy="52168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Requests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Formal written change request forms.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Emergency change verbal approvals and post-change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Approval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Email approvals from IT Head for scheduled changes.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Notifications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Customer notification records for scheduled/unscheduled changes.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Reviews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Post-implementation review reports for all changes.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Management Log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Centralized log of all changes (scheduled, unscheduled, successful, failed).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Compliance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Documentation showing adherence to the change management process.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7655F9-7088-B541-F7B8-B17B4849DC69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🔄 17. Change Management Policy</a:t>
            </a:r>
          </a:p>
        </p:txBody>
      </p:sp>
    </p:spTree>
    <p:extLst>
      <p:ext uri="{BB962C8B-B14F-4D97-AF65-F5344CB8AC3E}">
        <p14:creationId xmlns:p14="http://schemas.microsoft.com/office/powerpoint/2010/main" val="3139639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65E1D-209A-1718-9A94-A706AA33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E9D8A7-C2C7-CB49-3F33-170B045E4966}"/>
              </a:ext>
            </a:extLst>
          </p:cNvPr>
          <p:cNvSpPr txBox="1"/>
          <p:nvPr/>
        </p:nvSpPr>
        <p:spPr>
          <a:xfrm>
            <a:off x="746318" y="804659"/>
            <a:ext cx="6097904" cy="65864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all software developed or maintained follows secure coding practices to protect data and systems.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in-house, third-party, and open-source development.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Coding Standards: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Follow OWASP and language-specific guidelines.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Input Validation: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Prevent vulnerabilities like SQL injection and XSS.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Authentication &amp; Authorization: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 strong mechanisms and least privilege.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Encryption: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Required for data in transit and at rest.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Error Handling: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Avoid exposing system details.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Logging &amp; 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Capture and review security-relevant events.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Secure SDLC: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Integrate security into all development phases.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Code Reviews: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Mandatory using tools like SonarQube.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Third-Party Components: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vetted and monitored (e.g., via </a:t>
            </a:r>
            <a:r>
              <a:rPr lang="en-US" sz="1600" b="0" i="0" err="1">
                <a:solidFill>
                  <a:srgbClr val="424242"/>
                </a:solidFill>
                <a:effectLst/>
                <a:latin typeface="Segoe Sans"/>
              </a:rPr>
              <a:t>Snyk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Training: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Ongoing developer education on secure practices.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Align with OWASP, PCI DSS, and legal standards.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CFC3F-C182-338B-5BB3-0795B2ADE265}"/>
              </a:ext>
            </a:extLst>
          </p:cNvPr>
          <p:cNvSpPr txBox="1"/>
          <p:nvPr/>
        </p:nvSpPr>
        <p:spPr>
          <a:xfrm>
            <a:off x="7278053" y="-37373"/>
            <a:ext cx="4666297" cy="7055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Coding Standards Documentation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Language-specific guidelines and OWASP references.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Input Validation Logs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Implementation records for input sanitization.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Authentication and Authorization Records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Access control configurations and session management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Encryption Implementation Logs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Encryption status for data in transit and at rest.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Error Handling Documentation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Error message handling procedures.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Logging and Monitoring Reports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Security event logs and monitoring system outputs.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Secure SDLC Records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Integration of security in development lifecycle phases.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Code Review Reports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SonarQube/manual review logs and feedback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Third-Party Component Assessments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SYNK security assessment reports (quarterly).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Developer training sessions and attendance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Incident Response Plans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Security incident response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Compliance Records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VAPT reports tagged to releases.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Legal and regulatory compliance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950" b="1" i="0">
                <a:solidFill>
                  <a:srgbClr val="424242"/>
                </a:solidFill>
                <a:effectLst/>
                <a:latin typeface="Segoe Sans"/>
              </a:rPr>
              <a:t>Review Logs</a:t>
            </a:r>
            <a:endParaRPr lang="en-IN" sz="9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950" b="0" i="0">
                <a:solidFill>
                  <a:srgbClr val="424242"/>
                </a:solidFill>
                <a:effectLst/>
                <a:latin typeface="Segoe Sans"/>
              </a:rPr>
              <a:t>Secure coding policy review and update records.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C2F2D8-77B0-59EF-5395-FFFD74F8A0B2}"/>
              </a:ext>
            </a:extLst>
          </p:cNvPr>
          <p:cNvSpPr txBox="1">
            <a:spLocks/>
          </p:cNvSpPr>
          <p:nvPr/>
        </p:nvSpPr>
        <p:spPr>
          <a:xfrm>
            <a:off x="741607" y="225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🧑‍💻 18. Secure Coding Policy</a:t>
            </a:r>
          </a:p>
        </p:txBody>
      </p:sp>
    </p:spTree>
    <p:extLst>
      <p:ext uri="{BB962C8B-B14F-4D97-AF65-F5344CB8AC3E}">
        <p14:creationId xmlns:p14="http://schemas.microsoft.com/office/powerpoint/2010/main" val="694193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5484-0210-D0BE-76A3-6DB1B8FD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A9049B-9ECF-8C6B-4855-2F13F1171016}"/>
              </a:ext>
            </a:extLst>
          </p:cNvPr>
          <p:cNvSpPr txBox="1"/>
          <p:nvPr/>
        </p:nvSpPr>
        <p:spPr>
          <a:xfrm>
            <a:off x="838199" y="1185873"/>
            <a:ext cx="6097904" cy="51398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Establish a robust framework to protect physical infrastructure, systems, and information assets from unauthorized access or damage.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visitors, and anyone accessing organizational facilities.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Access Control: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 of locks, access cards, biometric systems, and visitor management.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Physical Barriers: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Fencing, secure entry points, and restricted access to server rooms.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Surveillance: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CCTV monitoring with footage retained for at least 30 days.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Environmental Controls: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Fire safety, climate control, and disaster recovery planning.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Incident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Reporting, investigating, and resolving physical security breaches.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3BCC5-6025-C267-A5F9-893715664B6C}"/>
              </a:ext>
            </a:extLst>
          </p:cNvPr>
          <p:cNvSpPr txBox="1"/>
          <p:nvPr/>
        </p:nvSpPr>
        <p:spPr>
          <a:xfrm>
            <a:off x="7479285" y="1041642"/>
            <a:ext cx="4456747" cy="56707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Key distribution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Access card issuance and deactivation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Biometric access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Visitor check-in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Surveillance Records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CCTV footage (retained for at least 30 days).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Security Surveillance Checklist.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Audit reports of surveillance systems.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Environmental Control Documentation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Fire safety system maintenance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Climate control system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Disaster recovery plans and test results.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Reports of unauthorized access, theft, or damage.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Investigation and corrective action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Physical Barrier Maintenance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Records of perimeter security installations and inspections.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Server room access control documentation.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C58778-F6C9-CBCE-89E6-A786FEB615B8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🏢 19. Physical Security Policy</a:t>
            </a:r>
          </a:p>
        </p:txBody>
      </p:sp>
    </p:spTree>
    <p:extLst>
      <p:ext uri="{BB962C8B-B14F-4D97-AF65-F5344CB8AC3E}">
        <p14:creationId xmlns:p14="http://schemas.microsoft.com/office/powerpoint/2010/main" val="375032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28524-E90C-7ED6-4AA7-59BBD43D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3CF57A-BACC-2F51-9B8B-C37D04358D7C}"/>
              </a:ext>
            </a:extLst>
          </p:cNvPr>
          <p:cNvSpPr txBox="1"/>
          <p:nvPr/>
        </p:nvSpPr>
        <p:spPr>
          <a:xfrm>
            <a:off x="838200" y="1246392"/>
            <a:ext cx="5257800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Prevent unauthorized access to sensitive information by ensuring workspaces and screens are kept clear.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workspaces (on-site, remote, hybrid), and devices used for business.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Desk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Lock away confidential documents and avoid leaving sensitive items on desks.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Screen Security: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 screen savers with auto-lock after 5 minutes; avoid desktop shortcuts to sensitive files.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Document Handling: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Shred confidential waste; remove prints immediately from printers.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Meeting Rooms: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Clear whiteboards, clipboards, and notes post-meeting.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Awareness: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Security teams may leave “Something Missing” notices to reinforce compliance.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C19A0-7522-81EC-25C3-C72757A6E993}"/>
              </a:ext>
            </a:extLst>
          </p:cNvPr>
          <p:cNvSpPr txBox="1"/>
          <p:nvPr/>
        </p:nvSpPr>
        <p:spPr>
          <a:xfrm>
            <a:off x="6988681" y="1244489"/>
            <a:ext cx="4828222" cy="54707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Desk and Screen Compliance Checks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Security officer or HR-issued “Something Missing” warning messages.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Periodic inspection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Document Handling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Shredding logs for Business Confidential documents.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Printer area clearance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Screen Lock and Screensaver Settings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System configuration logs showing 5-minute idle lock enforcement.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Storage and Disposal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Locked drawer/cabinet allocation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Disposal logs for non-confidential and confidential waste.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Training and Awareness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Training session attendance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Awareness campaign materials and feedback.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E84477-013F-1653-5095-E67B9B74375C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🧹 20. Clear Desk &amp; Clear Screen Policy </a:t>
            </a:r>
          </a:p>
        </p:txBody>
      </p:sp>
    </p:spTree>
    <p:extLst>
      <p:ext uri="{BB962C8B-B14F-4D97-AF65-F5344CB8AC3E}">
        <p14:creationId xmlns:p14="http://schemas.microsoft.com/office/powerpoint/2010/main" val="572201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2B58-986E-A23F-46E3-35F53A9C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BA4F0B-4071-7F39-2109-42A1AFE89D04}"/>
              </a:ext>
            </a:extLst>
          </p:cNvPr>
          <p:cNvSpPr txBox="1"/>
          <p:nvPr/>
        </p:nvSpPr>
        <p:spPr>
          <a:xfrm>
            <a:off x="714121" y="1328283"/>
            <a:ext cx="6097904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ICT systems are resilient and capable of supporting business continuity during disruptions.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third-party service providers handling organizational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Risk Assessment: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Regular BIA and risk assessments to identify threats to ICT systems.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BCMS Integration: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ICT readiness is part of the broader Business Continuity Management System.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Infrastructure Resilience: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Redundancy, failover mechanisms, and tested backup/recovery procedures.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Incident Response: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Defined plans for managing ICT incidents and communication.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Training &amp; 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Regular training, awareness, and audits to ensure compliance and readiness.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437B0-7633-CEB9-66FC-002C8ADE24ED}"/>
              </a:ext>
            </a:extLst>
          </p:cNvPr>
          <p:cNvSpPr txBox="1"/>
          <p:nvPr/>
        </p:nvSpPr>
        <p:spPr>
          <a:xfrm>
            <a:off x="7184279" y="1171823"/>
            <a:ext cx="4904422" cy="57400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Risk Assessment and BIA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Documentation of threats, critical assets, and impact analysis.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BCMS Documentation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Business Continuity Management System plans and updates.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ICT Infrastructure Resilience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Records of failover mechanisms, redundancy tests, and recovery drills.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Incident Response Plans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Communication protocols and incident handling procedures.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Backup and Recovery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Backup schedules and recovery test results.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Employee training and awareness session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Monitoring and Review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Continuous monitoring logs and policy review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Audit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Compliance assessments and enforcement actions.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B9EC4A-4A28-3920-24CD-EB49C20767B2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💻 21. ICT Readiness for Business Continuity Policy</a:t>
            </a:r>
          </a:p>
        </p:txBody>
      </p:sp>
    </p:spTree>
    <p:extLst>
      <p:ext uri="{BB962C8B-B14F-4D97-AF65-F5344CB8AC3E}">
        <p14:creationId xmlns:p14="http://schemas.microsoft.com/office/powerpoint/2010/main" val="4285749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4B96-150B-DEBE-8F65-AA8C087D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46ACC5-B101-3E0A-F68C-744618B1BD6A}"/>
              </a:ext>
            </a:extLst>
          </p:cNvPr>
          <p:cNvSpPr txBox="1"/>
          <p:nvPr/>
        </p:nvSpPr>
        <p:spPr>
          <a:xfrm>
            <a:off x="838200" y="832219"/>
            <a:ext cx="4714875" cy="59554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 and authorized transfer of information across all mediums to protect confidentiality, integrity, and availability.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forms of information transfer—cloud-based, physical, verbal, and electronic.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Authorization: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Transfers must be approved by the information owner.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Responsibility: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The sender must assess risks and ensure proper authorization.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Methods: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 secure channels (e.g., encrypted email, approved cloud platforms); avoid SMS or unauthorized mobile apps.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Bulk Transfers: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Require department head approval and logging by IT.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Fax &amp; Physical Transfers: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follow strict verification and confidentiality protocols.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Can be granted by CISO, IT Manager, or Technical Support Supervisor.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F1EDE-DEE5-7A88-0F19-F65936DFD381}"/>
              </a:ext>
            </a:extLst>
          </p:cNvPr>
          <p:cNvSpPr txBox="1"/>
          <p:nvPr/>
        </p:nvSpPr>
        <p:spPr>
          <a:xfrm>
            <a:off x="6093197" y="1003278"/>
            <a:ext cx="5895022" cy="52937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Transfer Authorization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Approvals from Information Owners (e.g., CC in emails).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Head of Department approvals for bulk transfers.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Transfer Method Documentation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Records of chosen transfer media (email, fax, physical, cloud).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Risk assessments for each transfer.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Recipient Authentication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Verification of recipient identity and authorization.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Transfer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Maintained by IT for routine and ad-hoc bulk transfers (e.g., AD, applications).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Fax Transmission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Confirmation of correct number, transmission success, and secure disposal.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Exception Approvals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Documented exceptions granted by CISO, IT Manager, or Technical Support Supervisor.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212EDBC-E214-8243-97D9-EC441EA2E37E}"/>
              </a:ext>
            </a:extLst>
          </p:cNvPr>
          <p:cNvSpPr txBox="1">
            <a:spLocks/>
          </p:cNvSpPr>
          <p:nvPr/>
        </p:nvSpPr>
        <p:spPr>
          <a:xfrm>
            <a:off x="838199" y="161211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📤 22. Information Transfer Policy</a:t>
            </a:r>
          </a:p>
        </p:txBody>
      </p:sp>
    </p:spTree>
    <p:extLst>
      <p:ext uri="{BB962C8B-B14F-4D97-AF65-F5344CB8AC3E}">
        <p14:creationId xmlns:p14="http://schemas.microsoft.com/office/powerpoint/2010/main" val="74040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F034-0FD5-15C7-C9A3-3D98C929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09CD6F-C544-B85E-7E79-4708DD45BE6E}"/>
              </a:ext>
            </a:extLst>
          </p:cNvPr>
          <p:cNvSpPr txBox="1"/>
          <p:nvPr/>
        </p:nvSpPr>
        <p:spPr>
          <a:xfrm>
            <a:off x="838199" y="1044464"/>
            <a:ext cx="4914901" cy="59554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Establish mechanisms to log and monitor IT events to detect anomalies, ensure compliance, and support incident response.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Covers the entire IT infrastructure of the organization.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Logging Requirements: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 authentication attempts, privileged activities, system errors, and configuration changes.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Real-time monitoring of network traffic, server health, and security events.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Retention: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Logs must be retained for at least 180 days and stored securely.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Review: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Weekly for critical systems, monthly for others; automated tools recommended.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align with ISO 27001, GDPR, HIPAA, etc.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Roles: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IT Security Team, System Admins, and Compliance Officers have defined responsibilities.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7769B-5073-3F99-56D3-44779BD71C82}"/>
              </a:ext>
            </a:extLst>
          </p:cNvPr>
          <p:cNvSpPr txBox="1"/>
          <p:nvPr/>
        </p:nvSpPr>
        <p:spPr>
          <a:xfrm>
            <a:off x="6201594" y="1042251"/>
            <a:ext cx="5828347" cy="53707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System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Authentication attempts, privileged activities, errors, configuration changes, network anomalies.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Monitoring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Real-time alerts and escalation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Server health and performance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Log Retention Records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Logs retained for at least 180 days.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Encryption and access control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Review and Analysis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Weekly reviews for critical systems.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Monthly reviews for non-critical systems.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Anomaly detection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Audit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Annual internal audit findings.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Compliance checks against standards (e.g., ISO 27001, GDPR).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Roles and Responsibilities Documentation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Logs of activities by IT Security, System Admins, and Compliance Officers.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B29F1B-DEB1-69C5-5C8E-C294365449BD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📊 23. Logging and Monitoring Policy</a:t>
            </a:r>
          </a:p>
        </p:txBody>
      </p:sp>
    </p:spTree>
    <p:extLst>
      <p:ext uri="{BB962C8B-B14F-4D97-AF65-F5344CB8AC3E}">
        <p14:creationId xmlns:p14="http://schemas.microsoft.com/office/powerpoint/2010/main" val="2858809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929D-BEDC-F75C-137C-4F33167A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EDF905-6C4A-E4E0-C24A-D481079E920A}"/>
              </a:ext>
            </a:extLst>
          </p:cNvPr>
          <p:cNvSpPr txBox="1"/>
          <p:nvPr/>
        </p:nvSpPr>
        <p:spPr>
          <a:xfrm>
            <a:off x="838200" y="997627"/>
            <a:ext cx="5600700" cy="57861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 use of mobile devices and remote work environments to protect organizational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 parties using mobile devices or working remotely.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Teleworking: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approved and use secure channels (VPN, MFA); no sensitive discussions in public.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Mobile Devices: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Org-Owned: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registered, encrypted, and use approved apps.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BYOD: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Requires MFA, secure containers, and no local storage of sensitive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Data Protection: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 cloud storage (e.g., OneDrive, SharePoint); report incidents within 24 hours.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Organization may audit and monitor devices; non-compliance may lead to disciplinary action.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Exit Protocol: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company data must be wiped from devices upon exit or replacement.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867B9-C046-7FC3-F66C-95E855B8FFE2}"/>
              </a:ext>
            </a:extLst>
          </p:cNvPr>
          <p:cNvSpPr txBox="1"/>
          <p:nvPr/>
        </p:nvSpPr>
        <p:spPr>
          <a:xfrm>
            <a:off x="7164704" y="897390"/>
            <a:ext cx="4886325" cy="61940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Teleworking Approvals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RM/Management authorization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Risk assessment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Device Registration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Records of organization-owned and BYOD devices registered with IT.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Security Configuration Records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Antivirus, firewall, encryption settings.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MFA enablement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Data Handling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Use of approved cloud platforms (e.g., OneDrive, SharePoint).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Restrictions on local storage and external transfers.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Reports of loss, theft, or compromise (within 24 hours).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Investigation and containment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Monitoring and Audit Logs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App usage audits.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Exit data wipe verification.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200" b="1" i="0">
                <a:solidFill>
                  <a:srgbClr val="424242"/>
                </a:solidFill>
                <a:effectLst/>
                <a:latin typeface="Segoe Sans"/>
              </a:rPr>
              <a:t>Compliance Enforcement Records</a:t>
            </a:r>
            <a:endParaRPr lang="en-US" sz="12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Disciplinary actions for non-compliance.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b="0" i="0">
                <a:solidFill>
                  <a:srgbClr val="424242"/>
                </a:solidFill>
                <a:effectLst/>
                <a:latin typeface="Segoe Sans"/>
              </a:rPr>
              <a:t>Revocation of access privileges.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DB24D6-1893-3223-C290-789F6A0D3776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📱🏠 24. Mobile and Teleworking Policy</a:t>
            </a:r>
          </a:p>
        </p:txBody>
      </p:sp>
    </p:spTree>
    <p:extLst>
      <p:ext uri="{BB962C8B-B14F-4D97-AF65-F5344CB8AC3E}">
        <p14:creationId xmlns:p14="http://schemas.microsoft.com/office/powerpoint/2010/main" val="1623932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9533-60BB-1DFE-91E9-FE8CE89D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C82E25-8924-6D42-B460-7E6BDE327902}"/>
              </a:ext>
            </a:extLst>
          </p:cNvPr>
          <p:cNvSpPr txBox="1"/>
          <p:nvPr/>
        </p:nvSpPr>
        <p:spPr>
          <a:xfrm>
            <a:off x="730876" y="1040599"/>
            <a:ext cx="4619625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the integrity and security of the organization's network infrastructure through effective monitoring and logging.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users and systems connected to the organization's network.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 Scope: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Includes packet headers, not data, unless required for virus detection or intrusion analysis.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Authorization: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Only IT Department (Network) staff may use sniffers or monitor traffic.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Privacy: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Users must not intercept or access unauthorized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Internet Activity: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Logs are generated and may be reviewed for troubleshooting or optimization.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Enforcement: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IT has authority to disconnect any device violating the policy or affecting network performance.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6EABA-E063-B599-4434-2FE3D2F14C56}"/>
              </a:ext>
            </a:extLst>
          </p:cNvPr>
          <p:cNvSpPr txBox="1"/>
          <p:nvPr/>
        </p:nvSpPr>
        <p:spPr>
          <a:xfrm>
            <a:off x="6562149" y="1040599"/>
            <a:ext cx="5632132" cy="43781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Network Traffic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Packet header logs (source/destination IP, timestamps).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Logs from sniffers used for diagnostics (authorized use only).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Monitoring Authorization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Documentation of authorized personnel for network monitoring.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Internet Activity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Email, web access, and network flow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Disconnect Authorization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Records of service discontinuation due to policy violations or performance issues.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Reports of unauthorized interception or privacy breaches.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8B70DB-EF73-A11C-3864-3497CC00B7EE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🌐 25. Network Monitoring Policy</a:t>
            </a:r>
          </a:p>
        </p:txBody>
      </p:sp>
    </p:spTree>
    <p:extLst>
      <p:ext uri="{BB962C8B-B14F-4D97-AF65-F5344CB8AC3E}">
        <p14:creationId xmlns:p14="http://schemas.microsoft.com/office/powerpoint/2010/main" val="1199231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C4F7-8ED1-7BD4-17B7-AE81E832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D5322E-646A-4808-D646-82903CA7E55D}"/>
              </a:ext>
            </a:extLst>
          </p:cNvPr>
          <p:cNvSpPr txBox="1"/>
          <p:nvPr/>
        </p:nvSpPr>
        <p:spPr>
          <a:xfrm>
            <a:off x="838200" y="796932"/>
            <a:ext cx="5257800" cy="64479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Establish strong password practices to protect access to systems, data, and resources.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users, systems, and third parties accessing organizational resources.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Creation Guidelines: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Minimum 12 characters, avoid dictionary words, personal info, or patterns; use mixed characters.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Change Frequency: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Every 90 days; no reuse of the last password.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Protection: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Avoid sharing, storing in browsers, or using the same password across systems.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Application Development: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Enforce strong passwords, secure storage (e.g., hashing), and password change protocols.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Account Lockout: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After 3 failed attempts, lock for 5 minutes; cycle continues with 3 attempts per 5-minute window.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Emergency Access: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Temporary sharing allowed under strict control and must be changed immediately after use.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C1164-DEFA-88D0-1DF0-B3E8524A9E51}"/>
              </a:ext>
            </a:extLst>
          </p:cNvPr>
          <p:cNvSpPr txBox="1"/>
          <p:nvPr/>
        </p:nvSpPr>
        <p:spPr>
          <a:xfrm>
            <a:off x="6632754" y="793777"/>
            <a:ext cx="5191125" cy="58015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Password Creation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Enforcement of password complexity (length, character types, uniqueness).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Password Change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Logs of periodic password changes (every 90 days).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History of last used passwords to prevent reuse.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Password Protection Measures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MFA implementation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Password sharing incidents and recovery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Application Development Compliance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Secure password storage (hashing).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Enforcement of password rules in applications.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Account Lockout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Records of failed login attempts and lockout durations.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Vendor Access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Temporary password usage and change records post-maintenance.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936806-362E-A5CF-DB33-7ED1AC1893F8}"/>
              </a:ext>
            </a:extLst>
          </p:cNvPr>
          <p:cNvSpPr txBox="1">
            <a:spLocks/>
          </p:cNvSpPr>
          <p:nvPr/>
        </p:nvSpPr>
        <p:spPr>
          <a:xfrm>
            <a:off x="838199" y="118281"/>
            <a:ext cx="9534525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🔐 26. Password Policy</a:t>
            </a:r>
          </a:p>
        </p:txBody>
      </p:sp>
    </p:spTree>
    <p:extLst>
      <p:ext uri="{BB962C8B-B14F-4D97-AF65-F5344CB8AC3E}">
        <p14:creationId xmlns:p14="http://schemas.microsoft.com/office/powerpoint/2010/main" val="1992276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4101-C3A8-1F96-E221-074784C9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85F86D-80CD-C4C8-50DF-1762D0A7B777}"/>
              </a:ext>
            </a:extLst>
          </p:cNvPr>
          <p:cNvSpPr txBox="1"/>
          <p:nvPr/>
        </p:nvSpPr>
        <p:spPr>
          <a:xfrm>
            <a:off x="838200" y="596318"/>
            <a:ext cx="6097904" cy="62632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timely identification, assessment, and remediation of technical vulnerabilities through structured patch management.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IT systems, servers, and personnel managing or accessing organizational infrastructure.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Vulnerability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Regular risk assessments, vendor coordination, and annual VAPT.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Patch Schedule: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Critical: within 10 days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High: within 15 days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Medium/Low: within 30 days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Testing: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Patches must be tested in staging before deployment.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IT team monitors vendor alerts and scans for vulnerabilities.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be documented and approved; compensating controls required.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Aligns with ISO 27001; quarterly audits required.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Enforcement: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Non-compliance may lead to disciplinary action or access revocation.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A5DAF-41AD-6989-3AC5-56F480F33584}"/>
              </a:ext>
            </a:extLst>
          </p:cNvPr>
          <p:cNvSpPr txBox="1"/>
          <p:nvPr/>
        </p:nvSpPr>
        <p:spPr>
          <a:xfrm>
            <a:off x="7832790" y="804473"/>
            <a:ext cx="4356259" cy="58400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Vulnerability Assessment Reports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Periodic risk assessments and VAPT results.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Communication logs of identified vulnerabilities.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Patch Management Logs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Patch testing and deployment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Patch schedules:</a:t>
            </a:r>
          </a:p>
          <a:p>
            <a:pPr marL="1143000" lvl="2" indent="-2286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Critical: within 10 days</a:t>
            </a:r>
          </a:p>
          <a:p>
            <a:pPr marL="1143000" lvl="2" indent="-2286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High-risk: within 15 days</a:t>
            </a:r>
          </a:p>
          <a:p>
            <a:pPr marL="1143000" lvl="2" indent="-2286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Medium/Low-risk: within 30 days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Exception Documentation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Approved exceptions and compensating controls.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Monitoring Records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Security mailing list subscriptions.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Vendor notifications and vulnerability tracking.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Review and Evaluation Reports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Patch relevance assessments.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Deployment verification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Audit Reports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Quarterly internal audit findings.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Compliance with ISO 27001.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Enforcement Records</a:t>
            </a:r>
            <a:endParaRPr lang="en-US" sz="105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50" b="0" i="0">
                <a:solidFill>
                  <a:srgbClr val="424242"/>
                </a:solidFill>
                <a:effectLst/>
                <a:latin typeface="Segoe Sans"/>
              </a:rPr>
              <a:t>Disciplinary actions for non-compliance.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FDCC29-B717-7655-F837-9D5C5BEE45EB}"/>
              </a:ext>
            </a:extLst>
          </p:cNvPr>
          <p:cNvSpPr txBox="1">
            <a:spLocks/>
          </p:cNvSpPr>
          <p:nvPr/>
        </p:nvSpPr>
        <p:spPr>
          <a:xfrm>
            <a:off x="838199" y="96816"/>
            <a:ext cx="10601326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🛡️ 27. Technical Vulnerability and Patch Management Policy</a:t>
            </a:r>
          </a:p>
        </p:txBody>
      </p:sp>
    </p:spTree>
    <p:extLst>
      <p:ext uri="{BB962C8B-B14F-4D97-AF65-F5344CB8AC3E}">
        <p14:creationId xmlns:p14="http://schemas.microsoft.com/office/powerpoint/2010/main" val="727494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B7CD-6BEB-79F2-1264-4FF6A236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79" y="225"/>
            <a:ext cx="6486525" cy="615949"/>
          </a:xfrm>
        </p:spPr>
        <p:txBody>
          <a:bodyPr>
            <a:noAutofit/>
          </a:bodyPr>
          <a:lstStyle/>
          <a:p>
            <a:r>
              <a:rPr lang="en-US" sz="2400" b="1">
                <a:solidFill>
                  <a:srgbClr val="424242"/>
                </a:solidFill>
                <a:latin typeface="Segoe Sans"/>
              </a:rPr>
              <a:t>⚠️ ISMS-PO-28: Threat Management Policy</a:t>
            </a:r>
            <a:endParaRPr lang="en-I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E2DCD-7EFF-A187-A3F6-888DBCDA8F46}"/>
              </a:ext>
            </a:extLst>
          </p:cNvPr>
          <p:cNvSpPr txBox="1"/>
          <p:nvPr/>
        </p:nvSpPr>
        <p:spPr>
          <a:xfrm>
            <a:off x="7753350" y="587053"/>
            <a:ext cx="4505325" cy="627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Threat Intelligence Reports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Strategic, tactical, and operational level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Source documentation and analysis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Threat Intelligence Lifecycle Documentation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Planning objectives.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Collection methods and sources.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Analysis procedures and findings.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Final production reports and distribution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Integration Logs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Incident response integration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Vulnerability management prioritization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Security Control Enhancements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Network and endpoint security updates based on threat intelligence.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Third-Party Risk Assessments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Vendor and supply chain threat evaluations.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Compliance and Privacy Records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Legal compliance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Privacy handling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Training and Simulation Records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Employee training attendance.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Cyber threat simulation exercise results.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Metrics and KPIs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Defined KPIs and performance tracking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900" b="1" i="0">
                <a:solidFill>
                  <a:srgbClr val="424242"/>
                </a:solidFill>
                <a:effectLst/>
                <a:latin typeface="Segoe Sans"/>
              </a:rPr>
              <a:t>Policy Review Logs</a:t>
            </a:r>
            <a:endParaRPr lang="en-US" sz="9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Continuous improvement actions.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900" b="0" i="0">
                <a:solidFill>
                  <a:srgbClr val="424242"/>
                </a:solidFill>
                <a:effectLst/>
                <a:latin typeface="Segoe Sans"/>
              </a:rPr>
              <a:t>Periodic review documentation.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BACF2-E8C4-59AE-5259-67135E9780B2}"/>
              </a:ext>
            </a:extLst>
          </p:cNvPr>
          <p:cNvSpPr txBox="1"/>
          <p:nvPr/>
        </p:nvSpPr>
        <p:spPr>
          <a:xfrm>
            <a:off x="695325" y="615257"/>
            <a:ext cx="6096000" cy="64248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100" b="0" i="0">
                <a:effectLst/>
                <a:latin typeface="Segoe Sans"/>
              </a:rPr>
            </a:b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To proactively identify, analyze, and respond to cybersecurity threats through structured threat intelligence practices.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100" b="0" i="0">
                <a:effectLst/>
                <a:latin typeface="Segoe Sans"/>
              </a:rPr>
            </a:b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third-party vendors involved in threat intelligence activities.</a:t>
            </a:r>
          </a:p>
          <a:p>
            <a:pPr>
              <a:buNone/>
            </a:pPr>
            <a:br>
              <a:rPr lang="en-US" sz="1100"/>
            </a:b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Key Elements: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Objectives: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Early detection and mitigation of threats.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Enhanced incident response.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Informed risk management decisions.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Improved cybersecurity awareness.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Threat Intelligence Levels: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Strategic: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High-level insights on attacker groups, motivations, and trends.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Tactical: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Details on attacker tools, techniques, and procedures.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Operational: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Specific technical indicators and attack details.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Threat Intelligence Lifecycle: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Direction/Planning: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Define objectives and validate sources.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Collection: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Gather data from trusted sources.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Analysis: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Assess relevance and impact using internal systems (e.g., SIEM).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Production:</a:t>
            </a: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 Create actionable reports and distribute to relevant teams.</a:t>
            </a:r>
          </a:p>
          <a:p>
            <a:pPr>
              <a:buNone/>
            </a:pPr>
            <a:br>
              <a:rPr lang="en-US" sz="1100"/>
            </a:br>
            <a:br>
              <a:rPr lang="en-US" sz="1100"/>
            </a:b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Review &amp; Continuous Improvement: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Update policy based on new threats and incident learnings.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Periodic policy reviews to maintain relevance.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327843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C84B82-B536-ACEA-166D-0A57FBF0157C}"/>
              </a:ext>
            </a:extLst>
          </p:cNvPr>
          <p:cNvSpPr txBox="1"/>
          <p:nvPr/>
        </p:nvSpPr>
        <p:spPr>
          <a:xfrm>
            <a:off x="7430453" y="1178527"/>
            <a:ext cx="4494847" cy="56092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Legal Register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List of applicable laws, regulations, and contractual obligations.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Compliance Monitoring Logs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Periodic review and audit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Non-compliance incident reports and RCA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IPR Documentation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Records of organizational IP.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Licensing agreements and usage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Software inventory and allowed freeware/shareware list.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Contract Review Records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Security clause validations.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Data protection and confidentiality enforcement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Legal and IPR awareness sessions.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Audit Reports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Technical compliance checks (e.g., VAPT).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Information security incident reviews.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100" b="1" i="0">
                <a:solidFill>
                  <a:srgbClr val="424242"/>
                </a:solidFill>
                <a:effectLst/>
                <a:latin typeface="Segoe Sans"/>
              </a:rPr>
              <a:t>Corrective Action Logs</a:t>
            </a:r>
            <a:endParaRPr lang="en-US" sz="11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424242"/>
                </a:solidFill>
                <a:effectLst/>
                <a:latin typeface="Segoe Sans"/>
              </a:rPr>
              <a:t>NCR closure documentation.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90395-AD40-D969-7F60-BC25B78F8381}"/>
              </a:ext>
            </a:extLst>
          </p:cNvPr>
          <p:cNvSpPr txBox="1"/>
          <p:nvPr/>
        </p:nvSpPr>
        <p:spPr>
          <a:xfrm>
            <a:off x="569889" y="1038321"/>
            <a:ext cx="6096000" cy="58862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400" b="0" i="0">
                <a:effectLst/>
                <a:latin typeface="Segoe Sans"/>
              </a:rPr>
            </a:b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To ensure compliance with legal, statutory, regulatory, and contractual obligations, and to protect intellectual property rights (IPR).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400" b="0" i="0">
                <a:effectLst/>
                <a:latin typeface="Segoe Sans"/>
              </a:rPr>
            </a:b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third parties handling organizational information assets.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Key Policy Points: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Maintain a register of applicable laws and regulations.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Monitor and review compliance regularly.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Use cryptographic controls in line with legal requirements.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Ensure products comply with client country regulations.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Protect and manage organizational intellectual property.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Prohibit unauthorized use of third-party IP and software.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Enforce contractual obligations related to data protection and confidentiality.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Conduct periodic audits and vulnerability assessments.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Implement corrective actions for non-compliance.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Roles &amp; Responsibilities: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Legal and Compliance teams manage legal registers and training.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IT team maintains software inventories.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ISC oversees audits, assessments, and incident management.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1C3855-8982-4B92-290D-4F01A835FEDE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10601326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800" b="1">
                <a:solidFill>
                  <a:srgbClr val="424242"/>
                </a:solidFill>
                <a:latin typeface="Segoe Sans"/>
              </a:rPr>
              <a:t>📜 ISMS-PO-29: Legal and Contractual Requirement Policy</a:t>
            </a:r>
          </a:p>
        </p:txBody>
      </p:sp>
    </p:spTree>
    <p:extLst>
      <p:ext uri="{BB962C8B-B14F-4D97-AF65-F5344CB8AC3E}">
        <p14:creationId xmlns:p14="http://schemas.microsoft.com/office/powerpoint/2010/main" val="1450097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C6525B-6186-F9BA-1F86-2DE77D5459DE}"/>
              </a:ext>
            </a:extLst>
          </p:cNvPr>
          <p:cNvSpPr txBox="1"/>
          <p:nvPr/>
        </p:nvSpPr>
        <p:spPr>
          <a:xfrm>
            <a:off x="7372349" y="1231316"/>
            <a:ext cx="4651057" cy="51552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Capacity Plans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Annual/event-based plans.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Retention for 18 months post-expiry.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Monitoring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Resource utilization tracking.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Monthly reviews by IT Head.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Forecast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Demand forecasts and business requirement inputs.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Continuous Improvement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Updates and improvements to capacity plans.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Capacity Management Template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Hardware capacity vs. actual usage.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Thresholds and gap analysis.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Delegation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Authority logs for IT resource actions.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0FFEE-EC36-AA60-B97A-B245058D2A00}"/>
              </a:ext>
            </a:extLst>
          </p:cNvPr>
          <p:cNvSpPr txBox="1"/>
          <p:nvPr/>
        </p:nvSpPr>
        <p:spPr>
          <a:xfrm>
            <a:off x="838200" y="1229383"/>
            <a:ext cx="6096000" cy="50860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To manage and monitor IT capacity and resources effectively, ensuring alignment with business needs and service requirements.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consultants, contractors, and partners using organizational IT systems and networks.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Policy Points: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Identify capacity needs based on business plans, SLAs, and risk assessments.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Prepare and retain capacity plans for 18 months post-expiry.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Review plans annually and improve continuously.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Forecast demand and monitor resource utilization.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Empower managers to ensure resource availability and reliability.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Use a standardized template for tracking IT resource usage.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Annexure: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Includes a capacity management template for tracking hardware usage, thresholds, and gaps.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A99087-BA1F-412B-41FA-4B1F113DC132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📊 ISMS-PO-30: Capacity Management and Resource Monitoring Policy</a:t>
            </a:r>
          </a:p>
        </p:txBody>
      </p:sp>
    </p:spTree>
    <p:extLst>
      <p:ext uri="{BB962C8B-B14F-4D97-AF65-F5344CB8AC3E}">
        <p14:creationId xmlns:p14="http://schemas.microsoft.com/office/powerpoint/2010/main" val="2285531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0916-33B3-0C1A-120F-9D070CE1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ADB4CE-8B1F-E114-2C0B-6B0D1FBCC5A4}"/>
              </a:ext>
            </a:extLst>
          </p:cNvPr>
          <p:cNvSpPr txBox="1"/>
          <p:nvPr/>
        </p:nvSpPr>
        <p:spPr>
          <a:xfrm>
            <a:off x="838200" y="1051422"/>
            <a:ext cx="4991100" cy="52937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transparency, integrity, and impartiality by identifying and managing conflicts of interest.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partners, associates, contractors, lawyers, and consultants.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Disclosure: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personnel must disclose actual, potential, or perceived conflicts.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Restrictions: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External engagements (e.g., freelancing) require prior written approval.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Conflicts are monitored during contract execution and must be reported via compliance channels.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Responsibilities: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Employees: Disclose and avoid conflicts.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Managers: Assess and act on disclosures.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Legal Team: Validate and enforce the policy.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FA1C8-5F0B-26FC-F174-F8A54FABFA60}"/>
              </a:ext>
            </a:extLst>
          </p:cNvPr>
          <p:cNvSpPr txBox="1"/>
          <p:nvPr/>
        </p:nvSpPr>
        <p:spPr>
          <a:xfrm>
            <a:off x="6611289" y="1133647"/>
            <a:ext cx="5353050" cy="45935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Conflict Disclosure Forms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Records of actual, potential, or perceived conflicts disclosed by employees.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Approval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Written approvals for external engagements or freelancing activities.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Conflict Monitoring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Ongoing monitoring during contract execution.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Legal team assessments and recommended actions.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Conflict Resolution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Reassignment, recusal, or disciplinary action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Awareness sessions on ethical conduct and conflict management.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8F0A690-2081-433F-1DBE-66B7F2B5CBF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⚖️ ISMS-PO-31: Conflict of Interest Policy</a:t>
            </a:r>
          </a:p>
        </p:txBody>
      </p:sp>
    </p:spTree>
    <p:extLst>
      <p:ext uri="{BB962C8B-B14F-4D97-AF65-F5344CB8AC3E}">
        <p14:creationId xmlns:p14="http://schemas.microsoft.com/office/powerpoint/2010/main" val="250232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208C-11FE-CFD8-4DB6-B98F5B99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160B2A-1C41-4A04-FCFD-F36EB0C64D63}"/>
              </a:ext>
            </a:extLst>
          </p:cNvPr>
          <p:cNvSpPr txBox="1"/>
          <p:nvPr/>
        </p:nvSpPr>
        <p:spPr>
          <a:xfrm>
            <a:off x="838200" y="977207"/>
            <a:ext cx="4191000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Provide a formal process for requesting and managing deviations from security policies or procedures.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when strict compliance is impractical, but risk must still be managed.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Request Requirements: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include justification, risk assessment, mitigating controls, and duration.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Approval Process: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Reviewed by the Information Security Team; high-risk exceptions require senior approval.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exceptions must be documented, tracked, and periodically reviewed.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Revocation: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Exceptions may be revoked if incidents occur or policies are violated.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ISO References: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Clauses 6.1.3, 7.5, and 8.1.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2017D-DF64-DC39-7B0B-CC7EFA830A17}"/>
              </a:ext>
            </a:extLst>
          </p:cNvPr>
          <p:cNvSpPr txBox="1"/>
          <p:nvPr/>
        </p:nvSpPr>
        <p:spPr>
          <a:xfrm>
            <a:off x="6096000" y="1098086"/>
            <a:ext cx="6097904" cy="41242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 Request Emails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Requestor details, description, justification, risk assessment, mitigating controls, duration, and approval.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Approval Documentation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Records of approvals from department heads, CISO, or security team.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Exception Register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Centralized log of all exceptions with scope, controls, expiration, and status.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Audit and Review Logs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Periodic reviews and renewal assessments.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Revocation records in case of incidents or violations.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E15C67-8DDB-6B24-5391-751B2872422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🚫  ISMS-PO-32: Exception Policy</a:t>
            </a:r>
          </a:p>
        </p:txBody>
      </p:sp>
    </p:spTree>
    <p:extLst>
      <p:ext uri="{BB962C8B-B14F-4D97-AF65-F5344CB8AC3E}">
        <p14:creationId xmlns:p14="http://schemas.microsoft.com/office/powerpoint/2010/main" val="54077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DFB4-3B75-5E41-1439-F6A890A5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54E5AB-ADB2-DAE1-A306-94C6ADC84318}"/>
              </a:ext>
            </a:extLst>
          </p:cNvPr>
          <p:cNvSpPr txBox="1"/>
          <p:nvPr/>
        </p:nvSpPr>
        <p:spPr>
          <a:xfrm>
            <a:off x="838200" y="750377"/>
            <a:ext cx="4905375" cy="62016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400" b="0" i="0">
                <a:effectLst/>
                <a:latin typeface="Segoe Sans"/>
              </a:rPr>
            </a:b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Define acceptable use of IT resources to protect information assets and ensure compliance.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400" b="0" i="0">
                <a:effectLst/>
                <a:latin typeface="Segoe Sans"/>
              </a:rPr>
            </a:b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Applies to employees, contractors, third-party providers, interns, and temporary staff.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User Responsibilities: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Use IT resources for business only.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Follow access control, encryption, and data handling protocols.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Participate in security training.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Prohibited Activities: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Unauthorized access or software installation.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Sharing credentials or using personal devices without approval.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Circumventing security controls or distributing offensive content.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Monitoring &amp; Enforcement: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Activities may be monitored without notice.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Violations may lead to disciplinary or legal action.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Incidents are handled per the incident management policy.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80976-530C-F8B3-FBFA-32F4CB08A0A1}"/>
              </a:ext>
            </a:extLst>
          </p:cNvPr>
          <p:cNvSpPr txBox="1"/>
          <p:nvPr/>
        </p:nvSpPr>
        <p:spPr>
          <a:xfrm>
            <a:off x="6512821" y="746981"/>
            <a:ext cx="5678804" cy="43011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User Acknowledgement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Confirmation of policy acceptance by employees, contractors, and third parties.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Monitoring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Activity monitoring records (e.g., internet usage, unauthorized access attempts).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Violations of acceptable use and corresponding disciplinary actions.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Security awareness training participation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Access Control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Logs of login credentials, session management, and BYOD approvals.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B12D29-32EB-350D-0C07-671C2A6FE1F6}"/>
              </a:ext>
            </a:extLst>
          </p:cNvPr>
          <p:cNvSpPr txBox="1">
            <a:spLocks/>
          </p:cNvSpPr>
          <p:nvPr/>
        </p:nvSpPr>
        <p:spPr>
          <a:xfrm>
            <a:off x="838200" y="13974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💻 33. Acceptable Usage Policy (AUP)</a:t>
            </a:r>
          </a:p>
        </p:txBody>
      </p:sp>
    </p:spTree>
    <p:extLst>
      <p:ext uri="{BB962C8B-B14F-4D97-AF65-F5344CB8AC3E}">
        <p14:creationId xmlns:p14="http://schemas.microsoft.com/office/powerpoint/2010/main" val="3069812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147C4-DA65-7C42-3A18-E76C49CF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2A4333-5B3C-5163-D589-9B62B7E38EA3}"/>
              </a:ext>
            </a:extLst>
          </p:cNvPr>
          <p:cNvSpPr txBox="1"/>
          <p:nvPr/>
        </p:nvSpPr>
        <p:spPr>
          <a:xfrm>
            <a:off x="838200" y="972841"/>
            <a:ext cx="6097904" cy="53553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 and efficient onboarding and offboarding of users with proper access provisioning and deactivation.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new joiners and exiting employees.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Onboarding: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HR shares user details with Admin/IT.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IT sets up O365 account with MFA.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Admin hands over assets and credentials.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User is added to relevant groups and signs NDA.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Offboarding: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HR initiates exit via ERP.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IT blocks access, backs up data, and transfers it to RM.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Assets are recovered and updated in HRMS.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Outputs: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User accounts, access logs, NDA, KT documents.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Validation: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Account creation/deletion, audit reports.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17325-9F44-C146-07BE-092CB928589C}"/>
              </a:ext>
            </a:extLst>
          </p:cNvPr>
          <p:cNvSpPr txBox="1"/>
          <p:nvPr/>
        </p:nvSpPr>
        <p:spPr>
          <a:xfrm>
            <a:off x="7750801" y="571524"/>
            <a:ext cx="3811904" cy="70326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Onboarding Records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HR notification and user details.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Asset handover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O365 account creation and MFA enablement.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NDA signed by new employees.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Group Assignment Logs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O365 group membership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Exit Records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Exit initiation via HRMS.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KT documents and ERP dashboard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Exit NDA signed.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Access revocation and account deactivation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OneDrive/mailbox/data backup and transfer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Asset recovery updates in HR system.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Audit and Validation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Audit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User access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Exit master and KT completion records.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882F7A4-54EE-0916-4277-0E780959D4FA}"/>
              </a:ext>
            </a:extLst>
          </p:cNvPr>
          <p:cNvSpPr txBox="1">
            <a:spLocks/>
          </p:cNvSpPr>
          <p:nvPr/>
        </p:nvSpPr>
        <p:spPr>
          <a:xfrm>
            <a:off x="838200" y="53887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👥 ISMS-PR-01: User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528677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15933-BB6D-C588-C2DD-AF02D273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C0053-84F2-E8FC-3472-892C11C7FD6D}"/>
              </a:ext>
            </a:extLst>
          </p:cNvPr>
          <p:cNvSpPr txBox="1"/>
          <p:nvPr/>
        </p:nvSpPr>
        <p:spPr>
          <a:xfrm>
            <a:off x="838200" y="1119012"/>
            <a:ext cx="6097904" cy="48782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Manage changes to configuration items (CIs) to ensure integrity, traceability, and control throughout the project lifecycle.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 and third parties managing organizational information systems.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Activities: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Configuration planning, change control, version control, audits.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Maintain a master list of CIs with versioning and status.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Change Control Board (CCB):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Approves changes based on impact analysis.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Versioning: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Follows </a:t>
            </a:r>
            <a:r>
              <a:rPr lang="en-US" sz="1600" b="0" i="0" err="1">
                <a:solidFill>
                  <a:srgbClr val="424242"/>
                </a:solidFill>
                <a:effectLst/>
                <a:latin typeface="Segoe Sans"/>
              </a:rPr>
              <a:t>M.n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 format (e.g., 1.0, 1.1).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Audits: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Conducted during internal audits or as needed.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Outputs: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Baselined CIs, updated logs, configuration plans.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23D25-C3B8-9096-C0E1-9E6699F67390}"/>
              </a:ext>
            </a:extLst>
          </p:cNvPr>
          <p:cNvSpPr txBox="1"/>
          <p:nvPr/>
        </p:nvSpPr>
        <p:spPr>
          <a:xfrm>
            <a:off x="7418768" y="1123856"/>
            <a:ext cx="4514850" cy="60939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Configuration Management Plan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Roles, responsibilities, CI identification, CCB composition.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Request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Enhancement/change request documentation.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Impact analysis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Approval records from CCB.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Version Control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CI versioning logs (e.g., </a:t>
            </a:r>
            <a:r>
              <a:rPr lang="en-US" sz="1400" b="0" i="0" err="1">
                <a:solidFill>
                  <a:srgbClr val="424242"/>
                </a:solidFill>
                <a:effectLst/>
                <a:latin typeface="Segoe Sans"/>
              </a:rPr>
              <a:t>M.n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 format).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Check-in/check-out history.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Configuration Status Accounting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Master list of CIs with version, author, path, and status.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Data Management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Project-specific and organization-specific data storage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Configuration Audit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Internal audit findings.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Audit deficiencies and resolutions.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DCE98F-0F25-3479-34F3-CB249563E25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⚙️ 🛠️  ISMS-PR-02: Configuration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2975108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F089-9DA9-9201-CEF0-5DCBEE0A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81B38-BDC5-5DDD-AD7E-3F7E3B524A1F}"/>
              </a:ext>
            </a:extLst>
          </p:cNvPr>
          <p:cNvSpPr txBox="1"/>
          <p:nvPr/>
        </p:nvSpPr>
        <p:spPr>
          <a:xfrm>
            <a:off x="741608" y="585475"/>
            <a:ext cx="5143500" cy="64325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IN" sz="1600" b="0" i="0">
                <a:effectLst/>
                <a:latin typeface="Segoe Sans"/>
              </a:rPr>
            </a:b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Ensure controlled, secure, and efficient deployment of software/system changes across environments.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IN" sz="1600" b="0" i="0">
                <a:effectLst/>
                <a:latin typeface="Segoe Sans"/>
              </a:rPr>
            </a:b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Covers all software, infrastructure, and system changes across Dev, QA, UAT, and Production.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Release Types:</a:t>
            </a: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 Standard, Emergency/Hotfix, Database.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Environments:</a:t>
            </a: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 DEV, QA, UAT/Stage, PROD.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Pre-Release Requirements: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Approved CR, deployment plan, release notes, VAPT, load testing.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Build &amp; Deployment:</a:t>
            </a:r>
            <a:endParaRPr lang="en-IN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Follows structured branching, code review, tagging, and backup.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Audits:</a:t>
            </a: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 VAPT, STQC, process/product audits before release.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Outputs:</a:t>
            </a: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 Release notes, build artifacts, DB scripts, deployment guides.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424242"/>
                </a:solidFill>
                <a:effectLst/>
                <a:latin typeface="Segoe Sans"/>
              </a:rPr>
              <a:t>Task Matrix:</a:t>
            </a:r>
            <a:r>
              <a:rPr lang="en-IN" sz="1600" b="0" i="0">
                <a:solidFill>
                  <a:srgbClr val="424242"/>
                </a:solidFill>
                <a:effectLst/>
                <a:latin typeface="Segoe Sans"/>
              </a:rPr>
              <a:t> Defines responsibilities across PM, Dev, QA, DevOps, SEPG, and CCB.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AFA3C-E0D7-26E1-196C-FC7FDE55540F}"/>
              </a:ext>
            </a:extLst>
          </p:cNvPr>
          <p:cNvSpPr txBox="1"/>
          <p:nvPr/>
        </p:nvSpPr>
        <p:spPr>
          <a:xfrm>
            <a:off x="6830378" y="709290"/>
            <a:ext cx="5475922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Release Planning and Execution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Approved change requests.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Deployment plans with rollback procedures.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Release notes (version tags, scope, known issues).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Environment Readiness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Validation of Dev, QA, UAT, and Prod environments.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Security and Process Audits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VAPT and STQC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Process and product audit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Pre-release audit checklist.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Build and Deployment Logs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Build artifacts and version tags.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Deployment logs and validation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Emergency Release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Hotfix approval and impact assessment.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Merge and release tag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Database Release Records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Baseline schema and migration scripts.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Backup and recovery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Task Responsibility Matrix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Task assignments and work products (e.g., CRs, test reports, deployment plans).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000" b="1" i="0">
                <a:solidFill>
                  <a:srgbClr val="424242"/>
                </a:solidFill>
                <a:effectLst/>
                <a:latin typeface="Segoe Sans"/>
              </a:rPr>
              <a:t>Post-Release Documentation</a:t>
            </a:r>
            <a:endParaRPr lang="en-US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Archived release packages.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000" b="0" i="0">
                <a:solidFill>
                  <a:srgbClr val="424242"/>
                </a:solidFill>
                <a:effectLst/>
                <a:latin typeface="Segoe Sans"/>
              </a:rPr>
              <a:t>User manuals and deployment guides.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8CC1B3-6717-B66A-858B-AC8567C59671}"/>
              </a:ext>
            </a:extLst>
          </p:cNvPr>
          <p:cNvSpPr txBox="1">
            <a:spLocks/>
          </p:cNvSpPr>
          <p:nvPr/>
        </p:nvSpPr>
        <p:spPr>
          <a:xfrm>
            <a:off x="741608" y="-1922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IN" sz="2400" b="1">
                <a:solidFill>
                  <a:srgbClr val="424242"/>
                </a:solidFill>
                <a:latin typeface="Segoe Sans"/>
              </a:rPr>
              <a:t>🚀 ISMS-PR-03: Release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640830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7806-AE47-2C94-FA5E-E903D5CC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7C23-B379-80C4-32B1-543B5C68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Autofit/>
          </a:bodyPr>
          <a:lstStyle/>
          <a:p>
            <a:r>
              <a:rPr lang="en-IN" sz="2800" b="1">
                <a:solidFill>
                  <a:srgbClr val="424242"/>
                </a:solidFill>
                <a:latin typeface="Segoe Sans"/>
              </a:rPr>
              <a:t>🛡️ ISMS-PR-04: Business Continuity Plan Process</a:t>
            </a:r>
            <a:endParaRPr lang="en-IN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7B10A-3607-8CEA-6678-7EFE8AF84BFD}"/>
              </a:ext>
            </a:extLst>
          </p:cNvPr>
          <p:cNvSpPr txBox="1"/>
          <p:nvPr/>
        </p:nvSpPr>
        <p:spPr>
          <a:xfrm>
            <a:off x="698559" y="915557"/>
            <a:ext cx="6097904" cy="58631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organizational resilience by preparing for, responding to, and recovering from disruptive incidents.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departments, locations, and critical assets (e.g., data, HR, email, internet services).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BCP Documentation: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Maintained securely offsite; updated annually or after major changes.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Roles: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BCP Leader: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Coordinates planning, testing, and training.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BCP Team: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Executes BCP activities.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Business Impact Analysis (BIA):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Categorizes services as Vital, Essential, or Desirable.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Disaster Scenarios: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Rated as Trivial, Minor, Major, or Catastrophic based on likelihood and impact.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Testing &amp; Training: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Annual BCP testing and training for all team members.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Change Management: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All updates must be approved and communicated.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EE4AE-CB9C-45EA-6AF3-E20F8D49A21A}"/>
              </a:ext>
            </a:extLst>
          </p:cNvPr>
          <p:cNvSpPr txBox="1"/>
          <p:nvPr/>
        </p:nvSpPr>
        <p:spPr>
          <a:xfrm>
            <a:off x="7083554" y="820892"/>
            <a:ext cx="4399597" cy="66018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BCP Documentation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Master BCP document stored securely offsite.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Service resumption procedures.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Roles and Responsibilities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BCP Leader and Team Member role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Annual review and audit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Business Impact Analysis (BIA)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Categorization of services (Vital, Essential, Desirable).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Disaster scenario matrix (Catastrophic, Major, Minor, Trivial).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BCP Testing Records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Annual test plans and results.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Simulation logs and validation reports.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BCP training attendance and completion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Change Management Logs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Updates to BCP due to infrastructure or personnel changes.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Notifications to BCP team.</a:t>
            </a:r>
          </a:p>
        </p:txBody>
      </p:sp>
    </p:spTree>
    <p:extLst>
      <p:ext uri="{BB962C8B-B14F-4D97-AF65-F5344CB8AC3E}">
        <p14:creationId xmlns:p14="http://schemas.microsoft.com/office/powerpoint/2010/main" val="1665153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F14C-DEB7-4F5A-D0FB-1F5A895C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0AAADB-EFB1-E312-FEBA-508FA2638F52}"/>
              </a:ext>
            </a:extLst>
          </p:cNvPr>
          <p:cNvSpPr txBox="1"/>
          <p:nvPr/>
        </p:nvSpPr>
        <p:spPr>
          <a:xfrm>
            <a:off x="837677" y="681523"/>
            <a:ext cx="6097904" cy="56938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 dirty="0">
                <a:effectLst/>
                <a:latin typeface="Segoe Sans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Identify, evaluate, and treat risks to minimize impact and enhance decision-making.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 dirty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Covers organizational assets, projects, and business-level risks and opportunities.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Risk Identification: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Includes assets, threats, vulnerabilities, and valuation using CIA (Confidentiality, Integrity, Availability).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Risk Valuation Formula:</a:t>
            </a:r>
            <a:br>
              <a:rPr lang="en-US" sz="1600" b="0" i="0" dirty="0">
                <a:effectLst/>
                <a:latin typeface="Segoe Sans"/>
              </a:rPr>
            </a:b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Risk Value = </a:t>
            </a:r>
            <a:r>
              <a:rPr lang="en-US" sz="1600" b="1">
                <a:solidFill>
                  <a:srgbClr val="424242"/>
                </a:solidFill>
                <a:latin typeface="Segoe Sans"/>
              </a:rPr>
              <a:t>C+I+A</a:t>
            </a: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 Value </a:t>
            </a:r>
            <a:r>
              <a:rPr lang="en-US" sz="1600" b="1">
                <a:solidFill>
                  <a:srgbClr val="424242"/>
                </a:solidFill>
                <a:latin typeface="Segoe Sans"/>
              </a:rPr>
              <a:t>+[</a:t>
            </a: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Vulnerability Impact</a:t>
            </a:r>
            <a:r>
              <a:rPr lang="en-US" sz="1600" b="1">
                <a:solidFill>
                  <a:srgbClr val="424242"/>
                </a:solidFill>
                <a:latin typeface="Segoe Sans"/>
              </a:rPr>
              <a:t> *</a:t>
            </a: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 Probability</a:t>
            </a:r>
            <a:r>
              <a:rPr lang="en-US" sz="1600" b="1">
                <a:solidFill>
                  <a:srgbClr val="424242"/>
                </a:solidFill>
                <a:latin typeface="Segoe Sans"/>
              </a:rPr>
              <a:t>]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Risk Treatment Strategies: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Avoid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Mitigate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Transfer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Accept (with approval)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Risk Register: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 Maintained and reviewed periodically.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Outputs: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Updated Risk Register and Treatment Plan.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FBFE5-CEBF-51C0-31BB-6C3FAADAB564}"/>
              </a:ext>
            </a:extLst>
          </p:cNvPr>
          <p:cNvSpPr txBox="1"/>
          <p:nvPr/>
        </p:nvSpPr>
        <p:spPr>
          <a:xfrm>
            <a:off x="7413818" y="545127"/>
            <a:ext cx="3951922" cy="64812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⚠️ ISMS-PR-05: Risk Assessment and Treatment Process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Asset Register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Identification and logging of assets.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Risk Assessment Sheets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Threats, vulnerabilities, CIA values, probability ratings.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Risk Register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Risk value calculations and treatment strategies.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Risk Treatment Plans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Mitigation, avoidance, transfer, or acceptance actions.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Approval records from ISC/CISO.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Monitoring Logs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Periodic reviews and updates to risk values.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Departmental assessments.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400" b="1" i="0">
                <a:solidFill>
                  <a:srgbClr val="424242"/>
                </a:solidFill>
                <a:effectLst/>
                <a:latin typeface="Segoe Sans"/>
              </a:rPr>
              <a:t>Annexures</a:t>
            </a:r>
            <a:endParaRPr lang="en-IN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CIA Guidelines.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400" b="0" i="0">
                <a:solidFill>
                  <a:srgbClr val="424242"/>
                </a:solidFill>
                <a:effectLst/>
                <a:latin typeface="Segoe Sans"/>
              </a:rPr>
              <a:t>Risk Assessment and Treatment Sheet.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79CCFD-55C7-A363-730E-9BAF785154F6}"/>
              </a:ext>
            </a:extLst>
          </p:cNvPr>
          <p:cNvSpPr txBox="1">
            <a:spLocks/>
          </p:cNvSpPr>
          <p:nvPr/>
        </p:nvSpPr>
        <p:spPr>
          <a:xfrm>
            <a:off x="838200" y="73205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⚠️ ISMS-PR-05: Risk Assessment and Treatment Process</a:t>
            </a:r>
          </a:p>
        </p:txBody>
      </p:sp>
    </p:spTree>
    <p:extLst>
      <p:ext uri="{BB962C8B-B14F-4D97-AF65-F5344CB8AC3E}">
        <p14:creationId xmlns:p14="http://schemas.microsoft.com/office/powerpoint/2010/main" val="3427141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70F30-7AB3-4B7E-9C9D-440674E8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213388-6D74-494C-3067-94B97B9F3339}"/>
              </a:ext>
            </a:extLst>
          </p:cNvPr>
          <p:cNvSpPr txBox="1"/>
          <p:nvPr/>
        </p:nvSpPr>
        <p:spPr>
          <a:xfrm>
            <a:off x="838200" y="1083583"/>
            <a:ext cx="6097904" cy="44781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 engagement with third-party vendors through evaluation, monitoring, and compliance.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vendors with access to organizational systems or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Onboarding: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Includes risk assessment, contract review, and NDA signing.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Access Control: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Based on least privilege; monitored regularly.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Compliance: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Periodic reviews and third-party assessments.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Incident Reporting: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Vendors must report incidents immediately.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Offboarding: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Secure data return/deletion and access revocation.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Training: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Vendors may receive security awareness training if required.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9AB33-A843-F04E-5E6D-2AACE30A23D3}"/>
              </a:ext>
            </a:extLst>
          </p:cNvPr>
          <p:cNvSpPr txBox="1"/>
          <p:nvPr/>
        </p:nvSpPr>
        <p:spPr>
          <a:xfrm>
            <a:off x="7258050" y="1088380"/>
            <a:ext cx="4419600" cy="59170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Vendor Evaluation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Risk assessments and contract review checklists.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Onboarding Documentation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Signed NDAs.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Service Level Agreements.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Access provisioning and periodic reviews.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Compliance and Monitoring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Third-party assessments and audit results.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Vendor-reported security incidents and RCA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Offboarding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Data return/deletion confirmations.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Access revocation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Vendor security awareness training (if applicable).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E9D0D3-26A2-94CE-4407-D93954BEFECD}"/>
              </a:ext>
            </a:extLst>
          </p:cNvPr>
          <p:cNvSpPr txBox="1">
            <a:spLocks/>
          </p:cNvSpPr>
          <p:nvPr/>
        </p:nvSpPr>
        <p:spPr>
          <a:xfrm>
            <a:off x="838200" y="2127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🤝 ISMS-PR-06: Vendor Security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3447903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5135-CC0E-76F4-0414-19087402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4F0639-00DF-7AC3-73FE-1D5F9E4CD3B4}"/>
              </a:ext>
            </a:extLst>
          </p:cNvPr>
          <p:cNvSpPr txBox="1"/>
          <p:nvPr/>
        </p:nvSpPr>
        <p:spPr>
          <a:xfrm>
            <a:off x="838200" y="487767"/>
            <a:ext cx="4859655" cy="67710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Ensure secure, compliant, and controlled outsourced software development aligned with organizational policies.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outsourced development activities involving third-party vendors or freelancers.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Vendor Selection: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Based on technical capability, security posture, and compliance (e.g., ISO 27001).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Contracts: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Must include clauses for data protection, IP rights, incident reporting, and audit rights.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Access Control: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Role-based access, MFA, and secure environments (e.g., VPN, isolated VMs).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Secure Development: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Adherence to OWASP, code reviews, version control.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Regular oversight, access logs, and status reviews.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Testing: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Includes security (VAPT), performance, and compliance validation.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Delivery &amp; Post-Review: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Secure code transfer, documentation, and vendor performance evaluation.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22472-2B5E-3794-93FE-11CF5A2F8FA8}"/>
              </a:ext>
            </a:extLst>
          </p:cNvPr>
          <p:cNvSpPr txBox="1"/>
          <p:nvPr/>
        </p:nvSpPr>
        <p:spPr>
          <a:xfrm>
            <a:off x="6494146" y="828675"/>
            <a:ext cx="5774054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Vendor Evaluation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Risk assessments, background checks.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Signed NDAs (vendor and individual contributors).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Contractual Agreements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Contracts with clauses for data protection, IP rights, incident reporting, audit rights.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Role-based access provisioning.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MFA enforcement and environment setup documentation.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Secure Development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Code reviews, OWASP compliance, version control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Monitoring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Access and activity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Status meeting records.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Testing Reports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VAPT, load/performance testing results.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Functional and non-functional validation.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Delivery Documentation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Secure code transfer logs (e.g., BitBucket/Git).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Deployment and rollback plans.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Post-Delivery Review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Final assessments, archived source code, vendor performance review.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E6D5F8-AFF4-8B11-159A-01675060B995}"/>
              </a:ext>
            </a:extLst>
          </p:cNvPr>
          <p:cNvSpPr txBox="1">
            <a:spLocks/>
          </p:cNvSpPr>
          <p:nvPr/>
        </p:nvSpPr>
        <p:spPr>
          <a:xfrm>
            <a:off x="838200" y="-1922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IN" sz="2400" b="1">
                <a:solidFill>
                  <a:srgbClr val="424242"/>
                </a:solidFill>
                <a:latin typeface="Segoe Sans"/>
              </a:rPr>
              <a:t>🧑‍💻 ISMS-PR-07: Outsourced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955324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A66A-2942-5708-E944-C318C1AB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E74B6-9B8E-2324-426D-4BEA08463105}"/>
              </a:ext>
            </a:extLst>
          </p:cNvPr>
          <p:cNvSpPr txBox="1"/>
          <p:nvPr/>
        </p:nvSpPr>
        <p:spPr>
          <a:xfrm>
            <a:off x="838200" y="821872"/>
            <a:ext cx="6097904" cy="60324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Define secure use of personal devices for work while protecting organizational data and systems.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Applies to all employees, contractors, and affiliates using personal devices for work.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Approval &amp; NDA: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Formal request, IT inspection, and NDA signing required.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Device Requirements: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Latest OS, antivirus, full-disk encryption, secure apps only.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Access Control: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MFA, strong passwords, auto-lock after 5 minutes.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Data Handling: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Encrypted storage and transmission; cloud-based storage preferred.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Monitoring: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Devices must be registered with MDM; subject to audits.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Incident Response: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Mandatory reporting; remote wipe enabled for lost/stolen devices.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Enforcement: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Non-compliance may lead to access suspension or disciplinary action.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3527F-5DA5-6457-DAFB-EFC76CDA5E35}"/>
              </a:ext>
            </a:extLst>
          </p:cNvPr>
          <p:cNvSpPr txBox="1"/>
          <p:nvPr/>
        </p:nvSpPr>
        <p:spPr>
          <a:xfrm>
            <a:off x="7623810" y="726993"/>
            <a:ext cx="4131944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BYOD Request and Approval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Email/ticket requests.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NDA signed by employee.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Device Compliance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OS updates, antivirus status, encryption setup.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Access Control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Role-based access, timeout settings, MFA enforcement.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Data Handling Documentation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Secure storage and transmission records.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Separation of personal and organizational data.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Monitoring and Audit Logs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MDM registration and enforcement.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Periodic audit results.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Incident Reports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Breach/loss reports.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Remote wipe execution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Training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Security awareness and BYOD training completion.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1000" b="1" i="0">
                <a:solidFill>
                  <a:srgbClr val="424242"/>
                </a:solidFill>
                <a:effectLst/>
                <a:latin typeface="Segoe Sans"/>
              </a:rPr>
              <a:t>Enforcement Records</a:t>
            </a:r>
            <a:endParaRPr lang="en-IN" sz="10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Access suspension logs.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000" b="0" i="0">
                <a:solidFill>
                  <a:srgbClr val="424242"/>
                </a:solidFill>
                <a:effectLst/>
                <a:latin typeface="Segoe Sans"/>
              </a:rPr>
              <a:t>Disciplinary action documentation.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985FBB-EAD2-A2FE-F136-3616535E4809}"/>
              </a:ext>
            </a:extLst>
          </p:cNvPr>
          <p:cNvSpPr txBox="1">
            <a:spLocks/>
          </p:cNvSpPr>
          <p:nvPr/>
        </p:nvSpPr>
        <p:spPr>
          <a:xfrm>
            <a:off x="838200" y="2127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📱 ISMS-PR-08: Bring Your Own Device (BYOD) Process</a:t>
            </a:r>
          </a:p>
        </p:txBody>
      </p:sp>
    </p:spTree>
    <p:extLst>
      <p:ext uri="{BB962C8B-B14F-4D97-AF65-F5344CB8AC3E}">
        <p14:creationId xmlns:p14="http://schemas.microsoft.com/office/powerpoint/2010/main" val="5405890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598E-7E9A-B6E3-1455-D9968FD5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0BAFA5-9A42-FD3E-CBED-21FEED7F0F10}"/>
              </a:ext>
            </a:extLst>
          </p:cNvPr>
          <p:cNvSpPr txBox="1"/>
          <p:nvPr/>
        </p:nvSpPr>
        <p:spPr>
          <a:xfrm>
            <a:off x="687946" y="819116"/>
            <a:ext cx="6097904" cy="6186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Purpose: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Standardize and control changes to applications and infrastructure to minimize disruption and risk.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Scope:</a:t>
            </a:r>
            <a:br>
              <a:rPr lang="en-US" sz="1600" b="0" i="0">
                <a:effectLst/>
                <a:latin typeface="Segoe Sans"/>
              </a:rPr>
            </a:b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Covers all application and infrastructure changes across production and non-production environments.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Key Highlights: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Change Types: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Standard, Normal (Low/Medium/High Risk), Emergency, Informational.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Risk Assessment: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Based on user impact, criticality, testability, and coordination.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Approval Workflow: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Varies by risk level; includes CAB (Change Advisory Board) , TRB (Technical Review Board), and client approvals.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Roles:</a:t>
            </a:r>
            <a:endParaRPr lang="en-US" sz="16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Requester: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Initiates change.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Owner: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Manages implementation and communication.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Reviewers: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Assess technical feasibility.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CAB: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Approves high-risk changes.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424242"/>
                </a:solidFill>
                <a:effectLst/>
                <a:latin typeface="Segoe Sans"/>
              </a:rPr>
              <a:t>KPIs:</a:t>
            </a:r>
            <a:r>
              <a:rPr lang="en-US" sz="1600" b="0" i="0">
                <a:solidFill>
                  <a:srgbClr val="424242"/>
                </a:solidFill>
                <a:effectLst/>
                <a:latin typeface="Segoe Sans"/>
              </a:rPr>
              <a:t> Track change volume, emergency change reduction, and fast-track usage.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DC720-122E-DB16-00B8-A4D7056D1326}"/>
              </a:ext>
            </a:extLst>
          </p:cNvPr>
          <p:cNvSpPr txBox="1"/>
          <p:nvPr/>
        </p:nvSpPr>
        <p:spPr>
          <a:xfrm>
            <a:off x="7303260" y="630630"/>
            <a:ext cx="4371975" cy="68172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Required Records/Evidence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Request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Change type, title, description, priority.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Risk questionnaire and scoring.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Approval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CAB, TRB, client approvals.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Emergency change approvals (verbal/email/text).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Change Implementation Logs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Implementation plans, verification, back-out plans.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Actual start/end times and deployment logs.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Categorization and Prioritization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Change categories (standard, normal, emergency).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Priority matrix (impact vs. urgency).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CAB Meeting Records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Meeting minutes, PIR reviews, emergency change reviews.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b="1" i="0">
                <a:solidFill>
                  <a:srgbClr val="424242"/>
                </a:solidFill>
                <a:effectLst/>
                <a:latin typeface="Segoe Sans"/>
              </a:rPr>
              <a:t>KPIs</a:t>
            </a:r>
            <a:endParaRPr lang="en-US" sz="1400" b="0" i="0">
              <a:solidFill>
                <a:srgbClr val="424242"/>
              </a:solidFill>
              <a:effectLst/>
              <a:latin typeface="Segoe Sans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Number of changes by type.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Reduction in emergency and fast-track changes.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227A1D-A771-8873-9441-85388174AF23}"/>
              </a:ext>
            </a:extLst>
          </p:cNvPr>
          <p:cNvSpPr txBox="1">
            <a:spLocks/>
          </p:cNvSpPr>
          <p:nvPr/>
        </p:nvSpPr>
        <p:spPr>
          <a:xfrm>
            <a:off x="838200" y="212726"/>
            <a:ext cx="10839450" cy="615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>
                <a:solidFill>
                  <a:srgbClr val="424242"/>
                </a:solidFill>
                <a:latin typeface="Segoe Sans"/>
              </a:rPr>
              <a:t>🔄 ISMS-PR-09: Change Management Process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B8D987-CFF5-E4EB-9AD6-D477AC591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86" y="301225"/>
            <a:ext cx="445047" cy="4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18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90A5C-542B-18D8-28F0-051CB5F1F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A5C1A-7149-3A01-7634-7851E5F2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DPDP-Act-2023 </a:t>
            </a:r>
          </a:p>
        </p:txBody>
      </p:sp>
    </p:spTree>
    <p:extLst>
      <p:ext uri="{BB962C8B-B14F-4D97-AF65-F5344CB8AC3E}">
        <p14:creationId xmlns:p14="http://schemas.microsoft.com/office/powerpoint/2010/main" val="3584446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DE92-9857-D50C-2C64-4FE0AF58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DF1CC-27D7-C6CC-9605-50C92B70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425" y="224"/>
            <a:ext cx="7027573" cy="9284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sz="2400" b="1" u="sng">
                <a:highlight>
                  <a:srgbClr val="FFFF00"/>
                </a:highlight>
                <a:latin typeface="Segoe Sans"/>
                <a:ea typeface="+mj-lt"/>
                <a:cs typeface="+mj-lt"/>
              </a:rPr>
              <a:t>DPDP-Act-2023 Children’s Data Protection Policy</a:t>
            </a:r>
            <a:endParaRPr lang="en-US" sz="2400" b="1" u="sng">
              <a:highlight>
                <a:srgbClr val="FFFF00"/>
              </a:highlight>
              <a:latin typeface="Sego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37B55-297E-183B-6992-CED24A6D7AA4}"/>
              </a:ext>
            </a:extLst>
          </p:cNvPr>
          <p:cNvSpPr txBox="1"/>
          <p:nvPr/>
        </p:nvSpPr>
        <p:spPr>
          <a:xfrm>
            <a:off x="549693" y="780537"/>
            <a:ext cx="6580909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Purpose: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Safeguard children’s personal data and ensure compliance with DPDP Act 2023.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Scope: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Applies to all data controllers/processors handling children’s personal data.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Key Highlights: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Consent:</a:t>
            </a:r>
            <a:r>
              <a:rPr lang="en-US">
                <a:ea typeface="+mn-lt"/>
                <a:cs typeface="+mn-lt"/>
              </a:rPr>
              <a:t> Obtain verifiable parental/guardian consent before processing.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Well-being: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Processing must not harm the child’s safety or development.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Restrictions:</a:t>
            </a:r>
            <a:r>
              <a:rPr lang="en-US">
                <a:ea typeface="+mn-lt"/>
                <a:cs typeface="+mn-lt"/>
              </a:rPr>
              <a:t> No behavioral tracking or profiling of children.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Advertising: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Prohibit targeted ads directed at children.</a:t>
            </a:r>
            <a:endParaRPr lang="en-US"/>
          </a:p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5508B-6FF3-D575-D1E7-5976764C94F8}"/>
              </a:ext>
            </a:extLst>
          </p:cNvPr>
          <p:cNvSpPr txBox="1"/>
          <p:nvPr/>
        </p:nvSpPr>
        <p:spPr>
          <a:xfrm>
            <a:off x="7135090" y="831272"/>
            <a:ext cx="4904509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Required Records/Evidence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Parental Consent Records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Verified parental/guardian consent logs.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Identity verification records before granting access.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Processing Safeguards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Documentation ensuring child safety and limited data use.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Tracking Restrictions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Logs confirming non-use of cookies/profiling tools for children.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Advertising Controls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Records of ad personalization disabled for child accounts.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505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7BB0-564B-08AB-9E06-F9676BBB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58F3-0528-46BE-ABC5-1AA5B9CD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087" y="129013"/>
            <a:ext cx="10515600" cy="649423"/>
          </a:xfrm>
        </p:spPr>
        <p:txBody>
          <a:bodyPr>
            <a:normAutofit/>
          </a:bodyPr>
          <a:lstStyle/>
          <a:p>
            <a:r>
              <a:rPr lang="en-IN" sz="2400" b="1" u="sng">
                <a:highlight>
                  <a:srgbClr val="FFFF00"/>
                </a:highlight>
                <a:latin typeface="Segoe Sans"/>
                <a:ea typeface="+mj-lt"/>
                <a:cs typeface="+mj-lt"/>
              </a:rPr>
              <a:t>DPDP-Act-2023 Grievance Redressal Policy</a:t>
            </a:r>
            <a:endParaRPr lang="en-US" sz="2400" b="1" u="sng">
              <a:highlight>
                <a:srgbClr val="FFFF00"/>
              </a:highlight>
              <a:latin typeface="Sego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A6317-8622-22A8-961A-BB3E7D836729}"/>
              </a:ext>
            </a:extLst>
          </p:cNvPr>
          <p:cNvSpPr txBox="1"/>
          <p:nvPr/>
        </p:nvSpPr>
        <p:spPr>
          <a:xfrm>
            <a:off x="374072" y="1039091"/>
            <a:ext cx="56388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Purpose</a:t>
            </a:r>
            <a:r>
              <a:rPr lang="en-US" b="1">
                <a:ea typeface="+mn-lt"/>
                <a:cs typeface="+mn-lt"/>
              </a:rPr>
              <a:t>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Provide transparent, accessible mechanisms for handling user grievances.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Scope: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Applies to all employees, contractors, and users interacting with the organization’s data systems.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Key Highlights: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Accessibility:</a:t>
            </a:r>
            <a:r>
              <a:rPr lang="en-US">
                <a:ea typeface="+mn-lt"/>
                <a:cs typeface="+mn-lt"/>
              </a:rPr>
              <a:t> Provide grievance redressal channels 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Response Time: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Address complaints within prescribed timelines.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Prohibitions:</a:t>
            </a:r>
            <a:r>
              <a:rPr lang="en-US">
                <a:ea typeface="+mn-lt"/>
                <a:cs typeface="+mn-lt"/>
              </a:rPr>
              <a:t> Do not delay or ignore grievances.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Fairness:</a:t>
            </a:r>
            <a:r>
              <a:rPr lang="en-US">
                <a:ea typeface="+mn-lt"/>
                <a:cs typeface="+mn-lt"/>
              </a:rPr>
              <a:t> Do not discourage or deter legitimate complaints.</a:t>
            </a:r>
            <a:endParaRPr lang="en-US"/>
          </a:p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A87F9-714F-0FEE-3076-5096AF4E5E12}"/>
              </a:ext>
            </a:extLst>
          </p:cNvPr>
          <p:cNvSpPr txBox="1"/>
          <p:nvPr/>
        </p:nvSpPr>
        <p:spPr>
          <a:xfrm>
            <a:off x="6248400" y="1149927"/>
            <a:ext cx="573578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Required Records/Evidence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Grievance Records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Complaint forms, emails, or system tickets.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Resolution Logs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Documentation of acknowledgment and response within SLA.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Escalation Records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Logs of unresolved complaints escalated to higher authority.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Monitoring Reports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Periodic reviews of grievance handling efficiency.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83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F9E1-0ED8-8211-5F17-42A5B560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0BAD-D29B-FED7-8367-E213310F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79" y="118280"/>
            <a:ext cx="10515600" cy="746014"/>
          </a:xfrm>
        </p:spPr>
        <p:txBody>
          <a:bodyPr>
            <a:normAutofit/>
          </a:bodyPr>
          <a:lstStyle/>
          <a:p>
            <a:r>
              <a:rPr lang="en-IN" sz="2400" b="1" u="sng">
                <a:highlight>
                  <a:srgbClr val="FFFF00"/>
                </a:highlight>
                <a:latin typeface="Segoe Sans"/>
                <a:ea typeface="+mj-lt"/>
                <a:cs typeface="+mj-lt"/>
              </a:rPr>
              <a:t>DPDP-Act-2023 Data Breach Response Policy</a:t>
            </a:r>
            <a:endParaRPr lang="en-US" sz="2400" b="1" u="sng">
              <a:highlight>
                <a:srgbClr val="FFFF00"/>
              </a:highlight>
              <a:latin typeface="Sego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9D666-BF49-D980-DD75-BEE05B5543CD}"/>
              </a:ext>
            </a:extLst>
          </p:cNvPr>
          <p:cNvSpPr txBox="1"/>
          <p:nvPr/>
        </p:nvSpPr>
        <p:spPr>
          <a:xfrm>
            <a:off x="304800" y="1011381"/>
            <a:ext cx="5735782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Purpose: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Ensure timely detection, reporting, and mitigation of data breaches.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Scope: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Covers all employees, contractors, and third-party processors with access to sensitive data.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Key Highlights: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Notification: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Report to Data Protection Board and affected individuals within 72 hours.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Remediation: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Apply immediate corrective actions.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Prohibitions: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Concealment or delayed disclosure is strictly prohibited.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Impact Assessment: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All breaches must undergo risk/impact evaluation.</a:t>
            </a:r>
            <a:endParaRPr lang="en-US"/>
          </a:p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99572-7833-37E3-B67C-FE99AEE01A32}"/>
              </a:ext>
            </a:extLst>
          </p:cNvPr>
          <p:cNvSpPr txBox="1"/>
          <p:nvPr/>
        </p:nvSpPr>
        <p:spPr>
          <a:xfrm>
            <a:off x="7398327" y="1039091"/>
            <a:ext cx="461356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Required Records/Evidence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Breach Notification Logs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Alerts sent to authorities and individuals.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Remediation Records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Documentation of mitigation actions taken.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Impact Assessment Reports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Evaluation of scope and severity of breach.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Incident Reports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Root cause analysis and corrective actions logged.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347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579A-7D87-E18F-18A4-BF531088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1B33-7256-FD9F-5B1D-688FD459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93"/>
          </a:xfrm>
        </p:spPr>
        <p:txBody>
          <a:bodyPr>
            <a:normAutofit/>
          </a:bodyPr>
          <a:lstStyle/>
          <a:p>
            <a:r>
              <a:rPr lang="en-IN" sz="2400" b="1" u="sng">
                <a:highlight>
                  <a:srgbClr val="FFFF00"/>
                </a:highlight>
                <a:ea typeface="+mj-lt"/>
                <a:cs typeface="+mj-lt"/>
              </a:rPr>
              <a:t>DPDP-Act-2023 </a:t>
            </a:r>
            <a:r>
              <a:rPr lang="en-IN" sz="2400" b="1" u="sng">
                <a:highlight>
                  <a:srgbClr val="FFFF00"/>
                </a:highlight>
                <a:latin typeface="Segoe Sans"/>
                <a:ea typeface="+mj-lt"/>
                <a:cs typeface="+mj-lt"/>
              </a:rPr>
              <a:t>Consent Management Policy</a:t>
            </a:r>
            <a:endParaRPr lang="en-US" sz="2400" b="1" u="sng">
              <a:highlight>
                <a:srgbClr val="FFFF00"/>
              </a:highlight>
              <a:latin typeface="Sego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7AB98-EE95-9470-4D2B-D6BCA4200BEB}"/>
              </a:ext>
            </a:extLst>
          </p:cNvPr>
          <p:cNvSpPr txBox="1"/>
          <p:nvPr/>
        </p:nvSpPr>
        <p:spPr>
          <a:xfrm>
            <a:off x="304799" y="1274618"/>
            <a:ext cx="598516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Purpose: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Ensure transparent and user-friendly handling of consent.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Scope: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Applies to all employees, systems, and services collecting user consent.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Key Highlights: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Consent Managers: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Use registered systems for consent collection and withdrawal.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Clarity:</a:t>
            </a:r>
            <a:r>
              <a:rPr lang="en-US">
                <a:ea typeface="+mn-lt"/>
                <a:cs typeface="+mn-lt"/>
              </a:rPr>
              <a:t> Present requests in clear, plain language.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Prohibitions: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Do not bundle unrelated consents.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Withdrawal: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Ensure users can easily withdraw consent.</a:t>
            </a:r>
            <a:endParaRPr lang="en-US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01CDF-78CF-0DF5-6EF5-41430FD6FF51}"/>
              </a:ext>
            </a:extLst>
          </p:cNvPr>
          <p:cNvSpPr txBox="1"/>
          <p:nvPr/>
        </p:nvSpPr>
        <p:spPr>
          <a:xfrm>
            <a:off x="7096259" y="1279301"/>
            <a:ext cx="442818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Required Records/Evidence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Consent Records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Logs of granted/withdrawn consents.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Consent Manager Logs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Evidence of registered consent managers in use.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Language Compliance Records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Copies of plain-language consent forms.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Withdrawal Logs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Records showing easy and successful consent withdrawals.</a:t>
            </a:r>
            <a:endParaRPr lang="en-US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0650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15972CCEE8040B32E369799EBC3B2" ma:contentTypeVersion="6" ma:contentTypeDescription="Create a new document." ma:contentTypeScope="" ma:versionID="0b2d9a662cf1852157f9d60732692dc1">
  <xsd:schema xmlns:xsd="http://www.w3.org/2001/XMLSchema" xmlns:xs="http://www.w3.org/2001/XMLSchema" xmlns:p="http://schemas.microsoft.com/office/2006/metadata/properties" xmlns:ns2="d83726b3-959c-4ec7-80e5-38b961048678" targetNamespace="http://schemas.microsoft.com/office/2006/metadata/properties" ma:root="true" ma:fieldsID="8bd840fd0be8e05c9de78acbfee6603f" ns2:_="">
    <xsd:import namespace="d83726b3-959c-4ec7-80e5-38b961048678"/>
    <xsd:element name="properties">
      <xsd:complexType>
        <xsd:sequence>
          <xsd:element name="documentManagement">
            <xsd:complexType>
              <xsd:all>
                <xsd:element ref="ns2:_ModernAudienceTargetUserField" minOccurs="0"/>
                <xsd:element ref="ns2:_ModernAudienceAadObjectIds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726b3-959c-4ec7-80e5-38b961048678" elementFormDefault="qualified">
    <xsd:import namespace="http://schemas.microsoft.com/office/2006/documentManagement/types"/>
    <xsd:import namespace="http://schemas.microsoft.com/office/infopath/2007/PartnerControls"/>
    <xsd:element name="_ModernAudienceTargetUserField" ma:index="8" nillable="true" ma:displayName="Audienc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9" nillable="true" ma:displayName="AudienceIds" ma:list="{5e5a796a-cc58-4b97-81a0-a7178e33c316}" ma:internalName="_ModernAudienceAadObjectIds" ma:readOnly="true" ma:showField="_AadObjectIdForUser" ma:web="d548fdb7-9b75-4872-8827-7df41f708d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ModernAudienceTargetUserField xmlns="d83726b3-959c-4ec7-80e5-38b961048678">
      <UserInfo>
        <DisplayName/>
        <AccountId xsi:nil="true"/>
        <AccountType/>
      </UserInfo>
    </_ModernAudienceTargetUserField>
  </documentManagement>
</p:properties>
</file>

<file path=customXml/itemProps1.xml><?xml version="1.0" encoding="utf-8"?>
<ds:datastoreItem xmlns:ds="http://schemas.openxmlformats.org/officeDocument/2006/customXml" ds:itemID="{62DF9AD3-DEAC-45C5-801C-7DC883F1A7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CA05F8-6597-4C4E-9FB0-54A3831A2107}">
  <ds:schemaRefs>
    <ds:schemaRef ds:uri="d83726b3-959c-4ec7-80e5-38b9610486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CF8D315-569F-45D6-9E5F-5BF78B8287CA}">
  <ds:schemaRefs>
    <ds:schemaRef ds:uri="023e7bb6-c67c-419a-b1b9-153661720f28"/>
    <ds:schemaRef ds:uri="9eeb40a4-54d3-468e-82ac-ad3d12953526"/>
    <ds:schemaRef ds:uri="cea743b8-325e-43f9-97ed-255a460ee9e2"/>
    <ds:schemaRef ds:uri="d83726b3-959c-4ec7-80e5-38b961048678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Information Security Management System (ISMS) Policy Summaries</vt:lpstr>
      <vt:lpstr>PowerPoint Presentation</vt:lpstr>
      <vt:lpstr>🔐 1. Access Management Policy</vt:lpstr>
      <vt:lpstr>🛡️ 2. Anti-Virus Policy</vt:lpstr>
      <vt:lpstr>💾 3. Backup and Restoration Policy</vt:lpstr>
      <vt:lpstr>🖥️ 4. Equipment Security Policy</vt:lpstr>
      <vt:lpstr>📱 ISMS-PO-05: BYOD (Bring Your Own Device) Policy</vt:lpstr>
      <vt:lpstr>🧾 6. Asset Management Policy</vt:lpstr>
      <vt:lpstr>💽 7. Removable Media Policy </vt:lpstr>
      <vt:lpstr>☁️ 8. Cloud Management Policy</vt:lpstr>
      <vt:lpstr>🧹 ISMS-PO-09: Data Deletion and Data Masking Policy</vt:lpstr>
      <vt:lpstr>✉️ 10. Email Use Policy </vt:lpstr>
      <vt:lpstr>🔐 11. Encryption and Cryptography Control Policy</vt:lpstr>
      <vt:lpstr>🧪 12. Environment Segregation Policy</vt:lpstr>
      <vt:lpstr>🗂️ 13. Information Security Classification Policy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⚠️ ISMS-PO-28: Threat Management Policy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🛡️ ISMS-PR-04: Business Continuity Plan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DPDP-Act-2023 </vt:lpstr>
      <vt:lpstr>DPDP-Act-2023 Children’s Data Protection Policy</vt:lpstr>
      <vt:lpstr>DPDP-Act-2023 Grievance Redressal Policy</vt:lpstr>
      <vt:lpstr>DPDP-Act-2023 Data Breach Response Policy</vt:lpstr>
      <vt:lpstr>DPDP-Act-2023 Consent Management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Raj</dc:creator>
  <cp:revision>23</cp:revision>
  <dcterms:created xsi:type="dcterms:W3CDTF">2025-08-28T16:25:32Z</dcterms:created>
  <dcterms:modified xsi:type="dcterms:W3CDTF">2026-06-05T05:42:13Z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0x010100FB515972CCEE8040B32E369799EBC3B2</vt:lpwstr>
  </property>
  <property fmtid="{D5CDD505-2E9C-101B-9397-08002B2CF9AE}" pid="3" name="MediaServiceImageTags">
    <vt:lpwstr/>
  </property>
  <property fmtid="{D5CDD505-2E9C-101B-9397-08002B2CF9AE}" pid="4" name="SEPGStatus">
    <vt:lpwstr>Pending</vt:lpwstr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UploadinPublished">
    <vt:lpwstr>No</vt:lpwstr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